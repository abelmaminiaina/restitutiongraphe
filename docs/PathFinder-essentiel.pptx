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3A5F"/>
                </a:solidFill>
              </a:rPr>
              <a:t>PathFinder — l'essentiel</a:t>
            </a:r>
          </a:p>
          <a:p>
            <a:r>
              <a:rPr sz="1800">
                <a:solidFill>
                  <a:srgbClr val="6B7280"/>
                </a:solidFill>
              </a:rPr>
              <a:t>dotnet-new-scan / PathFinder.ScanMvc
Recherche de plus court chemin sur dbo.LINE_VIS_EDG :
graphe en mémoire + quatre algorithmes de parcours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ASP.NET Core MVC (Razor) · C# 8.0 / .NET 7.0 · aucun JavaScript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CE QUE FAIT PATHFINDER</a:t>
            </a:r>
          </a:p>
          <a:p>
            <a:r>
              <a:rPr sz="2800" b="1">
                <a:solidFill>
                  <a:srgbClr val="1F3A5F"/>
                </a:solidFill>
              </a:rPr>
              <a:t>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222A35"/>
                </a:solidFill>
              </a:rPr>
              <a:t>•  Question : existe-t-il un chemin orienté entre deux nœuds du graphe, et quel est le plus court ?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A35"/>
                </a:solidFill>
              </a:rPr>
              <a:t>•  Le graphe : la table SQL Server dbo.LINE_VIS_EDG (jeu de démo : 100 008 nœuds, 400 787 arêtes).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A35"/>
                </a:solidFill>
              </a:rPr>
              <a:t>•  Un nœud = une valeur qui apparaît en colonne Nodes ou NodesLie. Pas de table de nœuds séparée.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222A35"/>
                </a:solidFill>
              </a:rPr>
              <a:t>•  Résultat affiché : la chaîne source → … → cible, et la transformation portée par chaque arête.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6B7280"/>
                </a:solidFill>
              </a:rPr>
              <a:t>–  Formulaire GET, URL partageable, résultat mis en cache 5 minutes.</a:t>
            </a:r>
          </a:p>
          <a:p>
            <a:pPr lvl="1">
              <a:spcAft>
                <a:spcPts val="800"/>
              </a:spcAft>
            </a:pPr>
            <a:r>
              <a:rPr sz="1400">
                <a:solidFill>
                  <a:srgbClr val="6B7280"/>
                </a:solidFill>
              </a:rPr>
              <a:t>–  Rendu 100 % côté serveur (Razor + SVG) — pas de JavaScript, pas d'API JSON.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DBO.LINE_VIS_EDG</a:t>
            </a:r>
          </a:p>
          <a:p>
            <a:r>
              <a:rPr sz="2800" b="1">
                <a:solidFill>
                  <a:srgbClr val="1F3A5F"/>
                </a:solidFill>
              </a:rPr>
              <a:t>Modèle de données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91153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4785"/>
                <a:gridCol w="2424785"/>
                <a:gridCol w="6061963"/>
              </a:tblGrid>
              <a:tr h="43891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Colonne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Type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Rôle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Nodes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VARCHAR(8000)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un des deux nœuds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NodesLie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VARCHAR(8000)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l'autre nœud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Direction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VARCHAR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'predecesseur' ou 'successeur'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Transformation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VARCHAR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libellé porté par l'arête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4114800"/>
            <a:ext cx="10911535" cy="201168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ctr"/>
            <a:r>
              <a:rPr sz="1300">
                <a:solidFill>
                  <a:srgbClr val="222A35"/>
                </a:solidFill>
                <a:latin typeface="Consolas"/>
              </a:rPr>
              <a:t>Direction = 'predecesseur'  -&gt;  arête  Nodes  -&gt; NodesLie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Direction = 'successeur'    -&gt;  arête  NodesLie -&gt; Nodes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// paramètres SQL typés VARCHAR explicitement (sinon NVARCHAR =&gt;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// conversion de colonne =&gt; scan au lieu de seek d'index)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§ 11.7 — STRUCTURE CSR</a:t>
            </a:r>
          </a:p>
          <a:p>
            <a:r>
              <a:rPr sz="2800" b="1">
                <a:solidFill>
                  <a:srgbClr val="1F3A5F"/>
                </a:solidFill>
              </a:rPr>
              <a:t>Le graphe en mémoire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Au démarrage, tout le graphe est chargé en RAM en tableaux d'entiers (format CSR, Compressed Sparse Row).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Chargement sur un Thread d'arrière-plan (pas d'async) : le serveur répond tout de suite ; repli sur le BFS SQL tant que le graphe n'est pas prêt.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~12 Mo pour 100 000 nœuds ; chargement ~1,2–2,0 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931920"/>
            <a:ext cx="10911535" cy="228600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ctr"/>
            <a:r>
              <a:rPr sz="1200">
                <a:solidFill>
                  <a:srgbClr val="222A35"/>
                </a:solidFill>
                <a:latin typeface="Consolas"/>
              </a:rPr>
              <a:t>_names[i]     : indice -&gt; nom du nœud            (n entrées)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_index[nom]   : nom -&gt; indice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_fwdOffset[u].._fwdOffset[u+1]  -&gt; tranche de _fwdTarget = successeurs de u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_revOffset[u].._revOffset[u+1]  -&gt; tranche de _revSource = prédécesseurs de u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200">
                <a:solidFill>
                  <a:srgbClr val="222A35"/>
                </a:solidFill>
                <a:latin typeface="Consolas"/>
              </a:rPr>
              <a:t>Successors(u) = _fwdTarget.AsSpan(...)   // aucune allocation, aucune copie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SÉLECTION PAR LE MENU « ALGORITHME »</a:t>
            </a:r>
          </a:p>
          <a:p>
            <a:r>
              <a:rPr sz="2800" b="1">
                <a:solidFill>
                  <a:srgbClr val="1F3A5F"/>
                </a:solidFill>
              </a:rPr>
              <a:t>Quatre algorithmes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1153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9545"/>
                <a:gridCol w="2579090"/>
                <a:gridCol w="5455767"/>
                <a:gridCol w="1587132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algo=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Nom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Principe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Correct si poids ≠ 1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bfs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BFS bidirectionnel  (défaut)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deux fronts en largeur qui se rejoignent au milieu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non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dijkstra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Dijkstra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file de priorité, un seul front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oui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dijkstra-bi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Dijkstra bidirectionnel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deux Dijkstra en miroir, arrêt sur topF+topB ≥ best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oui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astar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A* (heuristique ALT)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Dijkstra guidé par des repères précalculés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222A35"/>
                          </a:solidFill>
                        </a:rPr>
                        <a:t>oui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754880"/>
            <a:ext cx="1091153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Poids d'arêtes tous égaux à 1 : les quatre renvoient le même chemin (à un ex æquo près). Seule la durée change.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LE CHOIX PAR DÉFAUT</a:t>
            </a:r>
          </a:p>
          <a:p>
            <a:r>
              <a:rPr sz="2800" b="1">
                <a:solidFill>
                  <a:srgbClr val="1F3A5F"/>
                </a:solidFill>
              </a:rPr>
              <a:t>BFS bidirectionnel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10911535" cy="274320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ctr"/>
            <a:r>
              <a:rPr sz="1300">
                <a:solidFill>
                  <a:srgbClr val="222A35"/>
                </a:solidFill>
                <a:latin typeface="Consolas"/>
              </a:rPr>
              <a:t>        source ──▶─▶─▶ ┐        ┌ ◀─◀─◀── cible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 front avant (successeurs)   front arrière (prédécesseurs)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              ╲            ╱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               ╲  point   ╱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                ╲  de    ╱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                 ╲ jonction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                  ▼</a:t>
            </a:r>
          </a:p>
          <a:p>
            <a:r>
              <a:rPr sz="1300">
                <a:solidFill>
                  <a:srgbClr val="222A35"/>
                </a:solidFill>
                <a:latin typeface="Consolas"/>
              </a:rPr>
              <a:t>        recoller les deux demi-chemins (BuildPath)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0"/>
            <a:ext cx="10911535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≈ 2·b^(R/2) nœuds visités au lieu de b^R (b = degré ≈ 4, R = longueur).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File FIFO, aucun tas, aucun précalcul. Garde-fou : 300 000 nœuds par sens.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Devient FAUX si les arêtes deviennent pondérées.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A* SANS COORDONNÉES</a:t>
            </a:r>
          </a:p>
          <a:p>
            <a:r>
              <a:rPr sz="2800" b="1">
                <a:solidFill>
                  <a:srgbClr val="1F3A5F"/>
                </a:solidFill>
              </a:rPr>
              <a:t>A* et l'heuristique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1153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A* classe les nœuds par g(n) + h(n) : g = coût déjà parcouru, h = estimation du coût restant vers la cible.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h doit être admissible (ne jamais surestimer) pour rester optimal.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Pas de coordonnées ici → heuristique ALT (A*, Landmarks, Triangle inequality) :</a:t>
            </a:r>
          </a:p>
          <a:p>
            <a:pPr lvl="1">
              <a:spcAft>
                <a:spcPts val="800"/>
              </a:spcAft>
            </a:pPr>
            <a:r>
              <a:rPr sz="1200">
                <a:solidFill>
                  <a:srgbClr val="6B7280"/>
                </a:solidFill>
              </a:rPr>
              <a:t>–  PrepareLandmarks choisit 6 repères bien étalés (farthest-first).</a:t>
            </a:r>
          </a:p>
          <a:p>
            <a:pPr lvl="1">
              <a:spcAft>
                <a:spcPts val="800"/>
              </a:spcAft>
            </a:pPr>
            <a:r>
              <a:rPr sz="1200">
                <a:solidFill>
                  <a:srgbClr val="6B7280"/>
                </a:solidFill>
              </a:rPr>
              <a:t>–  Pour chaque repère : distance BFS vers / depuis tous les nœuds, précalculée au démarrage (~5 Mo).</a:t>
            </a:r>
          </a:p>
          <a:p>
            <a:pPr lvl="1">
              <a:spcAft>
                <a:spcPts val="800"/>
              </a:spcAft>
            </a:pPr>
            <a:r>
              <a:rPr sz="1200">
                <a:solidFill>
                  <a:srgbClr val="6B7280"/>
                </a:solidFill>
              </a:rPr>
              <a:t>–  L'inégalité triangulaire donne une borne inférieure valable de dist(n, cible).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Sur ce graphe aléatoire, l'heuristique est faible : A* reste lent. Utile surtout sur un graphe à structure (couches, coordonnées).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HOMECONTROLLER — ORDRE DES VÉRIFICATIONS</a:t>
            </a:r>
          </a:p>
          <a:p>
            <a:r>
              <a:rPr sz="2800" b="1">
                <a:solidFill>
                  <a:srgbClr val="1F3A5F"/>
                </a:solidFill>
              </a:rPr>
              <a:t>Avant de lancer un parcours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10911535" cy="4023360"/>
          </a:xfrm>
          <a:prstGeom prst="rect">
            <a:avLst/>
          </a:prstGeom>
          <a:solidFill>
            <a:srgbClr val="F6F8FA"/>
          </a:solidFill>
          <a:ln w="9525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27000" bIns="127000"/>
          <a:lstStyle/>
          <a:p>
            <a:pPr algn="ctr"/>
            <a:r>
              <a:rPr sz="1400">
                <a:solidFill>
                  <a:srgbClr val="222A35"/>
                </a:solidFill>
                <a:latin typeface="Consolas"/>
              </a:rPr>
              <a:t>1.  Condensation SCC (§ 11.5, si calculée)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        NotReachable  -&gt;  « aucun chemin »   (verdict EXACT, sans parcours)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2.  sinon : Composantes faibles (§ 11.4, si calculées)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        îles différentes  -&gt;  « aucun chemin »   (sans parcours)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3.  sinon : Cache applicatif (5 min)  -&gt;  résultat déjà connu ?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4.  sinon : Parcours avec l'algo choisi, sur le graphe en mémoire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 </a:t>
            </a:r>
          </a:p>
          <a:p>
            <a:r>
              <a:rPr sz="1400">
                <a:solidFill>
                  <a:srgbClr val="222A35"/>
                </a:solidFill>
                <a:latin typeface="Consolas"/>
              </a:rPr>
              <a:t>5.  graphe pas encore chargé  -&gt;  repli BFS SQL palier par palier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Les deux pré-calculs (§ 11.4 / § 11.5) se déclenchent depuis la page /Scan.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MS PAR APPEL — GRAPHE EN MÉMOIRE, HORS CACHE</a:t>
            </a:r>
          </a:p>
          <a:p>
            <a:r>
              <a:rPr sz="2800" b="1">
                <a:solidFill>
                  <a:srgbClr val="1F3A5F"/>
                </a:solidFill>
              </a:rPr>
              <a:t>Durées mesurées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1153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Algorithme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Chemin existant (médiane)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Aucun chemin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BFS bidirectionnel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0,06 ms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22,8 ms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Dijkstra bidirectionnel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0,37 ms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0,001 ms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A* (ALT)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8,3 ms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103,7 ms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Dijkstra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22,4 ms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A35"/>
                          </a:solidFill>
                        </a:rPr>
                        <a:t>61,8 ms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206240"/>
            <a:ext cx="1091153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Le bidirectionnel écrase le reste (deux fronts de rayon R/2).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Dijkstra bidirectionnel : imbattable sur « aucun chemin » — un front se vide instantanément.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22A35"/>
                </a:solidFill>
              </a:rPr>
              <a:t>•  A* : le pire sur « aucun chemin » (calcule l'heuristique sans jamais élaguer).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QUEL ALGORITHME ?</a:t>
            </a:r>
          </a:p>
          <a:p>
            <a:r>
              <a:rPr sz="2800" b="1">
                <a:solidFill>
                  <a:srgbClr val="1F3A5F"/>
                </a:solidFill>
              </a:rPr>
              <a:t>Verdict pour ce projet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828800"/>
          <a:ext cx="10911534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0039"/>
                <a:gridCol w="6891495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Situation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Choix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Poids = 1 (actuel)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BFS bidirectionnel — rien ne le bat, aucun précalcul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Si Transformation devient un coût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Dijkstra bidirectionnel — quasi la même vitesse, correct pondéré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Graphe avec structure (couches, coord.)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A* — sinon son précalcul n'est pas rentable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« Aucun chemin » à trancher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222A35"/>
                          </a:solidFill>
                        </a:rPr>
                        <a:t>Condensation SCC — O(1), avant tout parcours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CIBLE IMPOSÉE</a:t>
            </a:r>
          </a:p>
          <a:p>
            <a:r>
              <a:rPr sz="2800" b="1">
                <a:solidFill>
                  <a:srgbClr val="1F3A5F"/>
                </a:solidFill>
              </a:rPr>
              <a:t>Contraintes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C# 8.0 / .NET 7.0, sans async / await (préchargement sur un Thread).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ImplicitUsings désactivé ; pas de record, pas de namespaces à portée de fichier, pas de collection expressions [].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Microsoft.Data.SqlClient 5.2.2 (les 7.x ne ciblent que .NET 8+).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Requêtes SQL toutes paramétrées ; POST du /Scan protégés par jeton anti-forgery.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222A35"/>
                </a:solidFill>
              </a:rPr>
              <a:t>•  Aucun SDK .NET 7 requis : le SDK 10 compile pour net7.0, le runtime 7.0 exécute.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10896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6A34A"/>
                </a:solidFill>
              </a:rPr>
              <a:t>LE CŒUR PATHFINDER</a:t>
            </a:r>
          </a:p>
          <a:p>
            <a:r>
              <a:rPr sz="2800" b="1">
                <a:solidFill>
                  <a:srgbClr val="1F3A5F"/>
                </a:solidFill>
              </a:rPr>
              <a:t>Fichiers clés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45920"/>
          <a:ext cx="10911534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8046"/>
                <a:gridCol w="839348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Groupe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Fichiers</a:t>
                      </a:r>
                    </a:p>
                  </a:txBody>
                  <a:tcPr marL="88900" marR="88900" marT="38100" marB="38100" anchor="ctr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Mise en mémoire des données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LineVisEdgRepository.cs (StreamAllDirectedEdges) · DirectedGraph.cs (Build → CSR) · InMemoryGraphService.cs (+ GraphPreloader)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PathFinder (.cs)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DirectedGraph.cs (BFS bi, Dijkstra, Dijkstra bi, A*/ALT) · InMemoryGraphService.cs (passe-plats) · HomeController.cs (aiguillage + cache) · PathViewModel.cs · LineVisEdgRepository.cs (BFS SQL de repli, DescribePath)</a:t>
                      </a:r>
                    </a:p>
                  </a:txBody>
                  <a:tcPr marL="88900" marR="88900" marT="38100" marB="38100" anchor="ctr">
                    <a:solidFill>
                      <a:srgbClr val="F1F3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Front minimal (HTML rendu serveur)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A35"/>
                          </a:solidFill>
                        </a:rPr>
                        <a:t>Views/Home/Index.cshtml (formulaire + résultat) · Views/Shared/_Layout.cshtml · wwwroot/css/site.css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355080"/>
            <a:ext cx="1091153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B7280"/>
                </a:solidFill>
              </a:rPr>
              <a:t>Détail : dotnet-new-scan/README.md · docs/algorithmes-chemin.md · docs/Specification-fonctionnelle-dotnet-new-scan.docx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