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74980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Recherche d'existence d'un chemin</a:t>
            </a:r>
          </a:p>
          <a:p>
            <a:r>
              <a:rPr sz="1700">
                <a:solidFill>
                  <a:srgbClr val="C7D2E0"/>
                </a:solidFill>
              </a:rPr>
              <a:t>Résumé illustré — spécification PathFinder (ASP.NET Core MVC)</a:t>
            </a:r>
          </a:p>
        </p:txBody>
      </p:sp>
      <p:pic>
        <p:nvPicPr>
          <p:cNvPr id="4" name="Picture 3" descr="graphe-or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965960"/>
            <a:ext cx="2592661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Graphe orienté non pondéré · BFS bidirectionnel · dbo.LINE_VIS_EDG · v3.0 — 2026-08-27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OBJECTIF</a:t>
            </a:r>
          </a:p>
          <a:p>
            <a:r>
              <a:rPr sz="2800" b="1">
                <a:solidFill>
                  <a:srgbClr val="1F3A5F"/>
                </a:solidFill>
              </a:rPr>
              <a:t>Le problème à résoudre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11534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152"/>
                <a:gridCol w="3491691"/>
                <a:gridCol w="349169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Réponse attendue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Parcours nécessaire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Existence : un chemin orienté source → cible ?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oui / non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n'importe lequel (BFS ou DFS)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Plus court chemin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un chemin de longueur minimale (nb d'arêtes)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par distance croissante → BFS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49039"/>
            <a:ext cx="10911535" cy="274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A35"/>
                </a:solidFill>
              </a:rPr>
              <a:t>•  Résoudre le plus court chemin résout gratuitement l'existence : un seul BFS traite les deux.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A35"/>
                </a:solidFill>
              </a:rPr>
              <a:t>•  La volumétrie interdit de charger le graphe entier → parcours borné, requêtes ciblées.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CONTEXTE</a:t>
            </a:r>
          </a:p>
          <a:p>
            <a:r>
              <a:rPr sz="2800" b="1">
                <a:solidFill>
                  <a:srgbClr val="1F3A5F"/>
                </a:solidFill>
              </a:rPr>
              <a:t>Le graphe manipulé par l'application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6126478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396"/>
                <a:gridCol w="2130949"/>
                <a:gridCol w="2264133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Caractéristique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RestitutionGraphe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Conséquence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Orienté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 (colonne Direction)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le parcours respecte le sens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Pondéré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BFS optimal ; Dijkstra inutile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Acyclique (DAG)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 garanti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marquer les sommets visités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Densité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creux — 2 à 6 arêtes / nœud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listes d'adjacence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Taille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~100 000 nœuds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jamais tout le graphe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Connexité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 garantie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beaucoup de couples sans chemin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graphe-or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94560"/>
            <a:ext cx="3589838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55778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</a:rPr>
              <a:t>petit graphe orienté non pondéré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MODÈLE DE DONNÉES</a:t>
            </a:r>
          </a:p>
          <a:p>
            <a:r>
              <a:rPr sz="2800" b="1">
                <a:solidFill>
                  <a:srgbClr val="1F3A5F"/>
                </a:solidFill>
              </a:rPr>
              <a:t>La source de vérité : dbo.LINE_VIS_EDG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6035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1810512"/>
                <a:gridCol w="241401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Colonne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VARCHAR(8000)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un nœud (extrémité 1)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Direction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chaîne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'predecesseur' / 'successeur'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NodesLie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VARCHAR(8000)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l'autre nœud (extrémité 2)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Transformation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nullable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SELECT, JOIN… (affichée)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937760" cy="18771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32918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</a:rPr>
              <a:t>la colonne Direction encode le sens de l'arête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11480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81610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Pour un nœud X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Lignes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arêtes sortantes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(Nodes=X, predecesseur)  ou  (NodesLie=X, successeur)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arêtes entrantes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(NodesLie=X, predecesseur)  ou  (Nodes=X, successeur)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CHOIX DE L'ALGORITHME</a:t>
            </a:r>
          </a:p>
          <a:p>
            <a:r>
              <a:rPr sz="2800" b="1">
                <a:solidFill>
                  <a:srgbClr val="1F3A5F"/>
                </a:solidFill>
              </a:rPr>
              <a:t>Pourquoi BFS est le bon choix ici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531"/>
                <a:gridCol w="7729003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Atout du contexte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Ce que BFS en fait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Graphe non pondéré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rend le plus court chemin en O(n+m), sans file de priorité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On veut juste l'existence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s'arrête dès qu'il touche la cible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« Aucun chemin » fréquents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borné (maxDepth 20 ; 30 000 nœuds/sens) → réponse négative maîtrisée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Données distantes (SQL)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un palier = une requête par lot (pas une requête par arête)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Symétrie source / cible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5"/>
                          </a:solidFill>
                        </a:rPr>
                        <a:t>se dédouble en BFS bidirectionnel → profondeur ÷ 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BFS est le seul algorithme qui donne le plus court chemin d'un graphe non pondéré au prix d'un simple parcours.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ALGORITHME</a:t>
            </a:r>
          </a:p>
          <a:p>
            <a:r>
              <a:rPr sz="2800" b="1">
                <a:solidFill>
                  <a:srgbClr val="1F3A5F"/>
                </a:solidFill>
              </a:rPr>
              <a:t>BFS bidirectionnel — principe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585215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468"/>
                <a:gridCol w="3786691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Élément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front avant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part de la source, suit les arêtes sortantes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front arrière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part de la cible, remonte les arêtes entrantes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forwardPrev[X]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prédécesseur de X sur le chemin depuis la source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backwardNext[X]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successeur de X sur le chemin vers la cible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rencontre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X connu des deux côtés → plus court chemin trouvé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bfs-bi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5212080" cy="2409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4754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</a:rPr>
              <a:t>les deux fronts avancent en alternance et se rejoignent au milieu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ALGORITHME</a:t>
            </a:r>
          </a:p>
          <a:p>
            <a:r>
              <a:rPr sz="2800" b="1">
                <a:solidFill>
                  <a:srgbClr val="1F3A5F"/>
                </a:solidFill>
              </a:rPr>
              <a:t>BFS bidirectionnel — déroulé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23"/>
                <a:gridCol w="1031011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Vérifier l'existence de source et cible (sinon : non trouvé).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2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Si source = cible : renvoyer [source] (longueur 0).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Initialiser forwardPrev={source}, backwardNext={cible}, les deux frontières.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4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Répéter ≤ maxDepth fois, en alternant : palier pair = front avant, impair = front arrière.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Front avant : (u→v), u connu, v inconnu → forwardPrev[v]=u ; v ∈ backwardNext → rencontre.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6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Front arrière : (u→v), v connu, u inconnu → backwardNext[u]=v ; u ∈ forwardPrev → rencontre.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Frontières vides ou maxDepth atteint sans rencontre → non trouvé.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ALGORITHME</a:t>
            </a:r>
          </a:p>
          <a:p>
            <a:r>
              <a:rPr sz="2800" b="1">
                <a:solidFill>
                  <a:srgbClr val="1F3A5F"/>
                </a:solidFill>
              </a:rPr>
              <a:t>Pseudo-code de référence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200">
                <a:solidFill>
                  <a:srgbClr val="222A35"/>
                </a:solidFill>
                <a:latin typeface="Consolas"/>
              </a:rPr>
              <a:t>fonction PlusCourtChemin(source, cible, maxDepth &lt;= 20):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si non Existe(source) ou non Existe(cible): retourner NON_TROUVE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si source == cible: retourner [source]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forwardPrev  &lt;- { source: NUL } ; forwardFrontier  &lt;- [source]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backwardNext &lt;- { cible:  NUL } ; backwardFrontier &lt;- [cible]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pour step de 0 a maxDepth-1: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si les deux frontieres sont vides: arreter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si (step pair) et forwardFrontier et |forwardPrev| &lt; 30000: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pour chaque (u -&gt; v) dans FetchEdgesFrom(forwardFrontier):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    si u inconnu (avant) ou v deja connu (avant): continuer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    forwardPrev[v] &lt;- u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    si v dans backwardNext: retourner Recoller(v)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forwardFrontier &lt;- nouveaux v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sinon si backwardFrontier et |backwardNext| &lt; 30000: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pour chaque (u -&gt; v) dans FetchEdgesInto(backwardFrontier):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    si v inconnu (arriere) ou u deja connu (arriere): continuer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    backwardNext[u] &lt;- v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    si u dans forwardPrev: retourner Recoller(u)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        backwardFrontier &lt;- nouveaux u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   retourner NON_TROUVE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ALGORITHME</a:t>
            </a:r>
          </a:p>
          <a:p>
            <a:r>
              <a:rPr sz="2800" b="1">
                <a:solidFill>
                  <a:srgbClr val="1F3A5F"/>
                </a:solidFill>
              </a:rPr>
              <a:t>Exemple déroulé — recherche N1 → N4</a:t>
            </a:r>
          </a:p>
        </p:txBody>
      </p:sp>
      <p:pic>
        <p:nvPicPr>
          <p:cNvPr id="4" name="Picture 3" descr="exe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37360"/>
            <a:ext cx="4846320" cy="313768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60350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655"/>
                <a:gridCol w="1141764"/>
                <a:gridCol w="2446637"/>
                <a:gridCol w="146798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Palier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Front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Frontière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Rencontre ?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avant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[N1] → N2, N9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1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arrière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[N4] → N3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avant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[N2, N9] → N3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OUI (N3)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3192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6A34A"/>
                </a:solidFill>
              </a:rPr>
              <a:t>Chemin : N1 → N2 → N3 → N4   (longueur 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ALGORITHME</a:t>
            </a:r>
          </a:p>
          <a:p>
            <a:r>
              <a:rPr sz="2800" b="1">
                <a:solidFill>
                  <a:srgbClr val="1F3A5F"/>
                </a:solidFill>
              </a:rPr>
              <a:t>Complexité</a:t>
            </a:r>
          </a:p>
        </p:txBody>
      </p:sp>
      <p:pic>
        <p:nvPicPr>
          <p:cNvPr id="4" name="Picture 3" descr="complex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5120640" cy="340914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585215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163"/>
                <a:gridCol w="270099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Variante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Nœuds visités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BFS à sens unique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≈ dᴿ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BFS bidirectionnel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≈ 2 · d^(R/2)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8328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d = degré moyen, R = longueur du chemin.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Coût réel = allers-retours SQL : ≤ 2·maxDepth lots, sous-requêtes de 1000 paramètres.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Garde-fous : maxDepth ≤ 20 ; 30 000 nœuds / sens.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COMPARAISON</a:t>
            </a:r>
          </a:p>
          <a:p>
            <a:r>
              <a:rPr sz="2800" b="1">
                <a:solidFill>
                  <a:srgbClr val="1F3A5F"/>
                </a:solidFill>
              </a:rPr>
              <a:t>BFS vs les autres algorithmes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1153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916"/>
                <a:gridCol w="1846567"/>
                <a:gridCol w="2182307"/>
                <a:gridCol w="2182307"/>
                <a:gridCol w="2014437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Algorithme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Poids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Complexité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Plus court chemin ?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Ici ?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BFS / BFS bidirectionnel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O(n+m) ; ~2·d^(R/2)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 (non pondéré)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RETENU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DFS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n/a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O(n+m)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Dijkstra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≥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O((n+m) log n)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 (pas de poids)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Bellman-Ford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quelconques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O(n·m)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A*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≥ 0 + heuristique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≤ Dijkstra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 (pas d'heuristique)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Floyd-Warshall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quelconques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O(n³)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 (toutes paires)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 (n trop grand)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Union-Find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n/a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~O(m·α(n))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en pré-calcul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Tri topologique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quelconques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O(n+m)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OUI si acyclique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A35"/>
                          </a:solidFill>
                        </a:rPr>
                        <a:t>non (cycles)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Les algos pondérés résolvent un problème plus dur à un coût supérieur ; DFS ne donne pas le plus court chemin ; le tri topologique exige l'acyclicité.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SPÉCIFICATION</a:t>
            </a:r>
          </a:p>
          <a:p>
            <a:r>
              <a:rPr sz="2800" b="1">
                <a:solidFill>
                  <a:srgbClr val="1F3A5F"/>
                </a:solidFill>
              </a:rPr>
              <a:t>Règles de gestion clés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11534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265"/>
                <a:gridCol w="983826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Réf.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Règle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Un nœud existe s'il apparaît en colonne Nodes ou NodesLie.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RG-02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source = cible (nœud existant) → chemin de longueur 0.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source ou cible inexistante → « aucun chemin », sans parcours.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RG-04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Aucun chemin en ≤ maxDepth paliers → « aucun chemin ».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Plus court = nombre d'arêtes (les arêtes n'ont pas de poids).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RG-08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maxDepth plafonné à 20 (défaut 12).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Résultat mis en cache 5 min ; cache borné à 10 000 entrées.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RG-10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Chaque sens s'arrête au-delà de 30 000 nœuds visités.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RG-11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Paramètres SQL typés VarChar(8000) → index préservés.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RG-12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Requêtes sur liste de nœuds : lots de 1000 paramètres.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SPÉCIFICATION</a:t>
            </a:r>
          </a:p>
          <a:p>
            <a:r>
              <a:rPr sz="2800" b="1">
                <a:solidFill>
                  <a:srgbClr val="1F3A5F"/>
                </a:solidFill>
              </a:rPr>
              <a:t>Interface — la route « / 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836551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État de la page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Affichage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vierge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le formulaire seul (arrivée sur /)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erreur de saisie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bandeau « Renseigne un nœud source ET un nœud cible »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chemin trouvé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bandeau vert + chaîne « N1 → N2 → … » + tableau (# / De / Vers / Transformation)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chemin de longueur 0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bandeau vert + note (source = cible)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aucun chemin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bandeau rouge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6344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&lt;form method="get"&gt; → la page se recharge sur /?source=…&amp;target=… (URL partageable).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Rendu 100 % côté serveur (Razor) — aucune API, aucun JavaScript. Résultat en cache 5 min.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ÉVOLUTIONS</a:t>
            </a:r>
          </a:p>
          <a:p>
            <a:r>
              <a:rPr sz="2800" b="1">
                <a:solidFill>
                  <a:srgbClr val="1F3A5F"/>
                </a:solidFill>
              </a:rPr>
              <a:t>Pistes d'amélioration de la 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11533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599"/>
                <a:gridCol w="4015444"/>
                <a:gridCol w="2531476"/>
                <a:gridCol w="2095014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Piste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Idée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Effet sur l'existence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État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Index composites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(Nodes,Direction) / (NodesLie,Direction) INCLUDE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seek au lieu de scan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recommandé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Table EDGE normalisée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pré-dériver Direction : EDGE(SourceId, TargetId)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requêtes BFS triviales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recommandé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Pré-calcul des composantes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1 scan → ComponentId par nœud (Union-Find)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aucun chemin en O(1)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IMPLÉMENTÉ (dotnet-new-scan/)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Condensation SCC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contracter les cycles → DAG + atteignabilité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OUI/NON exact sans BFS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IMPLÉMENTÉ (dotnet-new-scan/)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Graphe en mémoire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charger EDGE au démarrage (adjacence + inverse)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latence SQL ÷ 10-100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A35"/>
                          </a:solidFill>
                        </a:rPr>
                        <a:t>recommandé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Aucune ne change les règles de gestion. Accès données isolé dans LineVisEdgRepository → chaque piste est un changement localisé. Le pré-calcul des composantes est détaillé aux 2 slides suivantes.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ZOOM (IMPLÉMENTÉ DANS DOTNET-NEW-SCAN/)</a:t>
            </a:r>
          </a:p>
          <a:p>
            <a:r>
              <a:rPr sz="2800" b="1">
                <a:solidFill>
                  <a:srgbClr val="1F3A5F"/>
                </a:solidFill>
              </a:rPr>
              <a:t>Le scan : l'intuition des îles</a:t>
            </a:r>
          </a:p>
        </p:txBody>
      </p:sp>
      <p:pic>
        <p:nvPicPr>
          <p:cNvPr id="4" name="Picture 3" descr="compos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43200"/>
            <a:ext cx="5212080" cy="2389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4592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A35"/>
                </a:solidFill>
              </a:rPr>
              <a:t>•  Le graphe = un archipel. Nœuds = maisons, arêtes = ponts.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A35"/>
                </a:solidFill>
              </a:rPr>
              <a:t>•  Un groupe de maisons reliées par des ponts = une île (composante connexe).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A35"/>
                </a:solidFill>
              </a:rPr>
              <a:t>•  Deux îles n'ont aucun pont entre elles.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A35"/>
                </a:solidFill>
              </a:rPr>
              <a:t>•  Donc : source et cible sur des îles différentes → AUCUN chemin, sans rien chercher.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931920"/>
          <a:ext cx="57607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Île (ComponentId)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Nœuds  (jeu de test)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N1 … N100000  (graphe d'origine)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1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X1, X2, X3, X4, X5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Y1, Y2, Y3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ZOOM</a:t>
            </a:r>
          </a:p>
          <a:p>
            <a:r>
              <a:rPr sz="2800" b="1">
                <a:solidFill>
                  <a:srgbClr val="1F3A5F"/>
                </a:solidFill>
              </a:rPr>
              <a:t>Le scan : Union-Find, puis usage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60350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157"/>
                <a:gridCol w="441588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Arête lue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Îles après fusion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(départ)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{X1} {X2} {X3} {X4} {X5}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X1—X2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{X1,X2} {X3} {X4} {X5}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X2—X3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{X1,X2,X3} {X4} {X5}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X3—X1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{X1,X2,X3} …  (déjà ensemble)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X3—X4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{X1,X2,X3,X4} {X5}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X4—X5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{X1,X2,X3,X4,X5}  → île n° 1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64592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A35"/>
                </a:solidFill>
              </a:rPr>
              <a:t>•  1 seul balayage de LINE_VIS_EDG. Au départ chaque nœud est sa propre île ; chaque arête fusionne deux îles.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A35"/>
                </a:solidFill>
              </a:rPr>
              <a:t>•  Résultat écrit dans dbo.NODE_COMPONENT (NodeId → ComponentId).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A35"/>
                </a:solidFill>
              </a:rPr>
              <a:t>•  À chaque recherche :</a:t>
            </a:r>
          </a:p>
          <a:p>
            <a:pPr lvl="1">
              <a:spcAft>
                <a:spcPts val="700"/>
              </a:spcAft>
            </a:pPr>
            <a:r>
              <a:rPr sz="1000">
                <a:solidFill>
                  <a:srgbClr val="6B7280"/>
                </a:solidFill>
              </a:rPr>
              <a:t>–  île(source) ≠ île(cible) → « aucun chemin », O(1), SANS BFS ;</a:t>
            </a:r>
          </a:p>
          <a:p>
            <a:pPr lvl="1">
              <a:spcAft>
                <a:spcPts val="700"/>
              </a:spcAft>
            </a:pPr>
            <a:r>
              <a:rPr sz="1000">
                <a:solidFill>
                  <a:srgbClr val="6B7280"/>
                </a:solidFill>
              </a:rPr>
              <a:t>–  île(source) = île(cible) → BFS comme d'habitude.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A35"/>
                </a:solidFill>
              </a:rPr>
              <a:t>•  Limite : prouve un NON, pas un OUI orienté (X5→X1 : même île, mais pas de chemin dans le sens → le BFS tranche).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Coût : O(n+m), une fois (~2,2 s pour 100 000 nœuds). Comparaison par recherche : O(1). À relancer via /Scan après modification de la 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ZOOM</a:t>
            </a:r>
          </a:p>
          <a:p>
            <a:r>
              <a:rPr sz="2800" b="1">
                <a:solidFill>
                  <a:srgbClr val="1F3A5F"/>
                </a:solidFill>
              </a:rPr>
              <a:t>Le scan : le code (dotnet-new-scan/)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943600" cy="393192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>
                <a:solidFill>
                  <a:srgbClr val="222A35"/>
                </a:solidFill>
                <a:latin typeface="Consolas"/>
              </a:rPr>
              <a:t>// Union-Find  —  GraphScanService.cs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public string Find(string x) {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Ensure(x);                    // 1er contact : x racine de lui-meme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while (_parent[x] != x) {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    _parent[x] = _parent[_parent[x]];   // compression de chemin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    x = _parent[x];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}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return x;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}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public void Union(string a, string b) {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var ra = Find(a); var rb = Find(b);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if (ra == rb) return;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if (_rank[ra] &lt; _rank[rb]) (ra, rb) = (rb, ra);  // union par rang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_parent[rb] = ra;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    if (_rank[ra] == _rank[rb]) _rank[ra]++;</a:t>
            </a:r>
          </a:p>
          <a:p>
            <a:r>
              <a:rPr sz="1100">
                <a:solidFill>
                  <a:srgbClr val="222A35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54480"/>
            <a:ext cx="4846320" cy="411480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950">
                <a:solidFill>
                  <a:srgbClr val="222A35"/>
                </a:solidFill>
                <a:latin typeface="Consolas"/>
              </a:rPr>
              <a:t>Service : PAS de SQL. Repositories : tout le SQL.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GraphScanService.Run() :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1. foreach (u,v) in _edges.StreamAllEdges()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       uf.Union(u, v)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2. foreach node : root = uf.Find(node)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       root nouveau -&gt; id 0,1,2,...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       rows.Add((node, id))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3. _components.ReplaceAll(rows)      // repo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GraphScanService.Compare(src, dst) :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(cs, ct) = _components.GetComponentIds(src, dst)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cs/ct null  -&gt; ScanUnavailable  (BFS)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cs != ct    -&gt; DifferentComponents ("aucun chemin", O(1))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cs == ct    -&gt; SameComponent (BFS)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LineVisEdgRepository.StreamAllEdges()  -&gt; SELECT Nodes,NodesLie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NodeComponentRepository.ReplaceAll()   -&gt; DROP/CREATE/BulkCopy</a:t>
            </a:r>
          </a:p>
          <a:p>
            <a:r>
              <a:rPr sz="950">
                <a:solidFill>
                  <a:srgbClr val="222A35"/>
                </a:solidFill>
                <a:latin typeface="Consolas"/>
              </a:rPr>
              <a:t>  NodeComponentRepository.GetComponentIds() -&gt; SELECT ... IN (@a,@b)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Fichiers : Services/GraphScanService.cs (algorithme) · Models/LineVisEdgRepository.cs + Models/NodeComponentRepository.cs (SQL).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ZOOM (§ 11.5, DOTNET-NEW-SCAN/)</a:t>
            </a:r>
          </a:p>
          <a:p>
            <a:r>
              <a:rPr sz="2800" b="1">
                <a:solidFill>
                  <a:srgbClr val="1F3A5F"/>
                </a:solidFill>
              </a:rPr>
              <a:t>Aller plus loin : la condensation SCC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Composante FORTEMENT connexe (SCC) : nœuds tous reliés par un chemin orienté dans les deux sens.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On contracte chaque SCC en un super-nœud → le « graphe condensé », toujours un DAG, beaucoup plus petit.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Chemin orienté u → v existe  ⟺  SccId(v) atteignable depuis SccId(u) dans le DAG condensé (BFS sur ~2000 super-nœuds, pas 100 000).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Verdict EXACT : oui comme non, sans BFS sur le graphe d'origine.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A35"/>
                </a:solidFill>
              </a:rPr>
              <a:t>•  Algorithme : Kosaraju (2 DFS itératifs), O(n+m).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82880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851660"/>
                <a:gridCol w="1851660"/>
              </a:tblGrid>
              <a:tr h="384048">
                <a:tc>
                  <a:txBody>
                    <a:bodyPr/>
                    <a:lstStyle/>
                    <a:p/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Graphe d'origine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Graphe condensé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Nœuds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100 000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1 979 SCC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Arêtes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~400 000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2 144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Structure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cyclique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DAG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+ grande SCC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98 028 nœuds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Gain sur le § 11.4 : X5 → X1 (même île, mais pas de chemin dans le sens) → « aucun chemin » exact et immédiat. Le § 11.4 renvoyait au BFS.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Synthèse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1153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781993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 bref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Le graphe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orienté, non pondéré, creux, cyclique possible, non connexe, ~100 000 nœuds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Le besoin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existence + plus court chemin — résolus ensemble par un seul BFS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L'algorithme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BFS bidirectionnel par paliers, exécuté en SQL, borné, résultat en cache 5 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Pas Dijkstra / A* / Floyd-Warshall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problème plus dur (poids, toutes paires), coût supérieur, sans bénéfice ici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Pré-calculs (dotnet-new-scan/)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§ 11.4 composantes faibles (NON certain) · § 11.5 condensation SCC (OUI/NON exact sans BFS)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