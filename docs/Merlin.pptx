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E99CBA8-FBA5-D99A-ABDD-4CFC594CD817}">
          <p14:sldIdLst>
            <p14:sldId id="256"/>
            <p14:sldId id="257"/>
            <p14:sldId id="258"/>
          </p14:sldIdLst>
        </p14:section>
        <p14:section name="Cycle de vie" id="{0D1E3847-3D0E-6815-410D-0DF4A3E70022}">
          <p14:sldIdLst>
            <p14:sldId id="259"/>
            <p14:sldId id="260"/>
          </p14:sldIdLst>
        </p14:section>
        <p14:section name="Données et alimentation" id="{817A5864-A715-42CE-8EE8-FC62A218A7BF}">
          <p14:sldIdLst>
            <p14:sldId id="261"/>
            <p14:sldId id="262"/>
            <p14:sldId id="263"/>
          </p14:sldIdLst>
        </p14:section>
        <p14:section name="Export et architecture" id="{07217712-0989-2274-FA7B-9F3487B3B3B7}">
          <p14:sldIdLst>
            <p14:sldId id="264"/>
            <p14:sldId id="265"/>
            <p14:sldId id="266"/>
          </p14:sldIdLst>
        </p14:section>
        <p14:section name="Synthèse" id="{58923F74-7906-7B0A-743B-A2A4CEAAA29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1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12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5303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14600"/>
            <a:ext cx="5303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Merlin · Spécification fonctionnelle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Merlin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146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Spécification fonctionnelle de l'application de saisie des lignages de données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Version 0.1 · Octobre 2026 · Document de travail</a:t>
            </a:r>
            <a:endParaRPr lang="en-US" sz="1200" dirty="0"/>
          </a:p>
        </p:txBody>
      </p:sp>
      <p:sp>
        <p:nvSpPr>
          <p:cNvPr id="5" name="title circle"/>
          <p:cNvSpPr/>
          <p:nvPr/>
        </p:nvSpPr>
        <p:spPr>
          <a:xfrm>
            <a:off x="6309360" y="11430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titl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373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Contexte et objectifs</a:t>
            </a:r>
            <a:endParaRPr lang="en-US" sz="2600" dirty="0"/>
          </a:p>
        </p:txBody>
      </p:sp>
      <p:sp>
        <p:nvSpPr>
          <p:cNvPr id="3" name="goal card 1"/>
          <p:cNvSpPr/>
          <p:nvPr/>
        </p:nvSpPr>
        <p:spPr>
          <a:xfrm>
            <a:off x="457200" y="105156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goal 1 circle"/>
          <p:cNvSpPr/>
          <p:nvPr/>
        </p:nvSpPr>
        <p:spPr>
          <a:xfrm>
            <a:off x="73152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goal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4465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Produire</a:t>
            </a: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 de lineage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14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application </a:t>
            </a:r>
            <a:r>
              <a:rPr lang="en-US" sz="1400" dirty="0"/>
              <a:t>qui </a:t>
            </a:r>
            <a:r>
              <a:rPr lang="en-US" sz="1400" dirty="0" err="1"/>
              <a:t>permet</a:t>
            </a:r>
            <a:r>
              <a:rPr lang="en-US" sz="1400" dirty="0"/>
              <a:t> de </a:t>
            </a:r>
            <a:r>
              <a:rPr lang="en-US" sz="1400" dirty="0" err="1"/>
              <a:t>produire</a:t>
            </a:r>
            <a:r>
              <a:rPr lang="en-US" sz="1400" dirty="0"/>
              <a:t> de lineage.</a:t>
            </a:r>
          </a:p>
        </p:txBody>
      </p:sp>
      <p:sp>
        <p:nvSpPr>
          <p:cNvPr id="8" name="goal card 2"/>
          <p:cNvSpPr/>
          <p:nvPr/>
        </p:nvSpPr>
        <p:spPr>
          <a:xfrm>
            <a:off x="3291840" y="105156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goal 2 circle"/>
          <p:cNvSpPr/>
          <p:nvPr/>
        </p:nvSpPr>
        <p:spPr>
          <a:xfrm>
            <a:off x="356616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goal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581" y="14465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Fiabiliser la saisie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514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Les lignages </a:t>
            </a:r>
            <a:r>
              <a:rPr lang="en-US" sz="1400" dirty="0" err="1">
                <a:solidFill>
                  <a:schemeClr val="tx1"/>
                </a:solidFill>
              </a:rPr>
              <a:t>sont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centralisés</a:t>
            </a:r>
            <a:r>
              <a:rPr lang="en-US" sz="1400" dirty="0">
                <a:solidFill>
                  <a:schemeClr val="tx1"/>
                </a:solidFill>
              </a:rPr>
              <a:t>, avec des contrôles à la saisie et un statut clair à chaque étape.</a:t>
            </a:r>
            <a:endParaRPr lang="en-US" sz="1400" dirty="0"/>
          </a:p>
        </p:txBody>
      </p:sp>
      <p:sp>
        <p:nvSpPr>
          <p:cNvPr id="13" name="goal card 3"/>
          <p:cNvSpPr/>
          <p:nvPr/>
        </p:nvSpPr>
        <p:spPr>
          <a:xfrm>
            <a:off x="6126480" y="105156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goal 3 circle"/>
          <p:cNvSpPr/>
          <p:nvPr/>
        </p:nvSpPr>
        <p:spPr>
          <a:xfrm>
            <a:off x="640080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40080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C</a:t>
            </a:r>
            <a:r>
              <a:rPr lang="en-US" sz="17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ompléter</a:t>
            </a: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</a:rPr>
              <a:t> le lineage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514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dirty="0"/>
              <a:t>C</a:t>
            </a:r>
            <a:r>
              <a:rPr lang="en-US" sz="1400" dirty="0" err="1"/>
              <a:t>ompléter</a:t>
            </a:r>
            <a:r>
              <a:rPr lang="en-US" sz="1400" dirty="0"/>
              <a:t> le lineage </a:t>
            </a:r>
            <a:r>
              <a:rPr lang="en-US" sz="1400" dirty="0" err="1"/>
              <a:t>existant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" name="action Créer icon" descr="preencoded.png">
            <a:extLst>
              <a:ext uri="{FF2B5EF4-FFF2-40B4-BE49-F238E27FC236}">
                <a16:creationId xmlns:a16="http://schemas.microsoft.com/office/drawing/2014/main" id="{AABA8C99-C677-A423-78D3-008627E25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005" y="1417169"/>
            <a:ext cx="345500" cy="34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L</a:t>
            </a:r>
            <a:r>
              <a:rPr lang="en-US" sz="2600" b="1" dirty="0">
                <a:solidFill>
                  <a:schemeClr val="tx2"/>
                </a:solidFill>
              </a:rPr>
              <a:t>e role du </a:t>
            </a:r>
            <a:r>
              <a:rPr lang="en-US" dirty="0" err="1"/>
              <a:t>C</a:t>
            </a:r>
            <a:r>
              <a:rPr lang="en-US" sz="2600" b="1" dirty="0" err="1">
                <a:solidFill>
                  <a:schemeClr val="tx2"/>
                </a:solidFill>
              </a:rPr>
              <a:t>ontributeur</a:t>
            </a:r>
            <a:r>
              <a:rPr lang="en-US" sz="2600" b="1" dirty="0">
                <a:solidFill>
                  <a:schemeClr val="tx2"/>
                </a:solidFill>
              </a:rPr>
              <a:t> = </a:t>
            </a:r>
            <a:r>
              <a:rPr lang="en-US" sz="2600" b="1" dirty="0" err="1">
                <a:solidFill>
                  <a:schemeClr val="tx2"/>
                </a:solidFill>
              </a:rPr>
              <a:t>Producteur</a:t>
            </a:r>
            <a:r>
              <a:rPr lang="en-US" sz="2600" b="1" dirty="0">
                <a:solidFill>
                  <a:schemeClr val="tx2"/>
                </a:solidFill>
              </a:rPr>
              <a:t> Merlin</a:t>
            </a:r>
            <a:endParaRPr lang="en-US" sz="2600" dirty="0"/>
          </a:p>
        </p:txBody>
      </p:sp>
      <p:sp>
        <p:nvSpPr>
          <p:cNvPr id="3" name="actor card"/>
          <p:cNvSpPr/>
          <p:nvPr/>
        </p:nvSpPr>
        <p:spPr>
          <a:xfrm>
            <a:off x="457200" y="105156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tor circle"/>
          <p:cNvSpPr/>
          <p:nvPr/>
        </p:nvSpPr>
        <p:spPr>
          <a:xfrm>
            <a:off x="1280160" y="13258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acto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53" y="161117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Contributeur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632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Il saisit ses lignages, les fait </a:t>
            </a:r>
            <a:r>
              <a:rPr lang="en-US" sz="1400" dirty="0" err="1">
                <a:solidFill>
                  <a:schemeClr val="bg2"/>
                </a:solidFill>
              </a:rPr>
              <a:t>évoluer</a:t>
            </a:r>
            <a:r>
              <a:rPr lang="en-US" sz="1400" dirty="0">
                <a:solidFill>
                  <a:schemeClr val="bg2"/>
                </a:solidFill>
              </a:rPr>
              <a:t>, completer et les </a:t>
            </a:r>
            <a:r>
              <a:rPr lang="en-US" sz="1400" dirty="0" err="1">
                <a:solidFill>
                  <a:schemeClr val="bg2"/>
                </a:solidFill>
              </a:rPr>
              <a:t>valide</a:t>
            </a:r>
            <a:r>
              <a:rPr lang="en-US" sz="1400" dirty="0">
                <a:solidFill>
                  <a:schemeClr val="bg2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action Créer circle"/>
          <p:cNvSpPr/>
          <p:nvPr/>
        </p:nvSpPr>
        <p:spPr>
          <a:xfrm>
            <a:off x="3566160" y="108813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action Crée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787" y="121176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0624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Créer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1051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Initie un lignage : un header et ses lignes.</a:t>
            </a:r>
            <a:endParaRPr lang="en-US" sz="1400" dirty="0"/>
          </a:p>
        </p:txBody>
      </p:sp>
      <p:sp>
        <p:nvSpPr>
          <p:cNvPr id="12" name="action Modifier circle"/>
          <p:cNvSpPr/>
          <p:nvPr/>
        </p:nvSpPr>
        <p:spPr>
          <a:xfrm>
            <a:off x="3566160" y="176479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action Modifier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787" y="1888419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6240" y="1728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Modifier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1728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Complète ou corrige un lignage non archivé.</a:t>
            </a:r>
            <a:endParaRPr lang="en-US" sz="1400" dirty="0"/>
          </a:p>
        </p:txBody>
      </p:sp>
      <p:sp>
        <p:nvSpPr>
          <p:cNvPr id="16" name="action Terminer circle"/>
          <p:cNvSpPr/>
          <p:nvPr/>
        </p:nvSpPr>
        <p:spPr>
          <a:xfrm>
            <a:off x="3566160" y="24414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action Terminer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787" y="256507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06240" y="24048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Terminer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394960" y="2404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Déclare le lignage complet et validé.</a:t>
            </a:r>
            <a:endParaRPr lang="en-US" sz="1400" dirty="0"/>
          </a:p>
        </p:txBody>
      </p:sp>
      <p:sp>
        <p:nvSpPr>
          <p:cNvPr id="20" name="action Archiver circle"/>
          <p:cNvSpPr/>
          <p:nvPr/>
        </p:nvSpPr>
        <p:spPr>
          <a:xfrm>
            <a:off x="3566160" y="31181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action Archiver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787" y="3241731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06240" y="30815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Archiver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39496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Retire le lignage du référentiel actif et de l'export.</a:t>
            </a:r>
            <a:endParaRPr lang="en-US" sz="1400" dirty="0"/>
          </a:p>
        </p:txBody>
      </p:sp>
      <p:sp>
        <p:nvSpPr>
          <p:cNvPr id="24" name="action Consulter circle"/>
          <p:cNvSpPr/>
          <p:nvPr/>
        </p:nvSpPr>
        <p:spPr>
          <a:xfrm>
            <a:off x="3566160" y="37947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action Consulter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9787" y="3918387"/>
            <a:ext cx="228234" cy="22823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206240" y="37581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Consulter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5394960" y="3758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Recherche et visualise les lignages, archivés compris.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0" name="action Consulter circle">
            <a:extLst>
              <a:ext uri="{FF2B5EF4-FFF2-40B4-BE49-F238E27FC236}">
                <a16:creationId xmlns:a16="http://schemas.microsoft.com/office/drawing/2014/main" id="{3814DC68-55AB-1B6D-F42F-C6D5117A4C13}"/>
              </a:ext>
            </a:extLst>
          </p:cNvPr>
          <p:cNvSpPr/>
          <p:nvPr/>
        </p:nvSpPr>
        <p:spPr>
          <a:xfrm>
            <a:off x="3544391" y="442613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2BCECE0-9E6B-9A10-DD87-E928C2E569CC}"/>
              </a:ext>
            </a:extLst>
          </p:cNvPr>
          <p:cNvSpPr txBox="1"/>
          <p:nvPr/>
        </p:nvSpPr>
        <p:spPr>
          <a:xfrm>
            <a:off x="4184471" y="438955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Completer</a:t>
            </a:r>
            <a:endParaRPr lang="en-US" sz="16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DE152401-C199-A585-B094-8A0E9D8F60BC}"/>
              </a:ext>
            </a:extLst>
          </p:cNvPr>
          <p:cNvSpPr txBox="1"/>
          <p:nvPr/>
        </p:nvSpPr>
        <p:spPr>
          <a:xfrm>
            <a:off x="5373191" y="438955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Completer les lineage </a:t>
            </a:r>
            <a:r>
              <a:rPr lang="en-US" sz="1400" dirty="0" err="1"/>
              <a:t>existants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38" name="action Modifier icon" descr="preencoded.png">
            <a:extLst>
              <a:ext uri="{FF2B5EF4-FFF2-40B4-BE49-F238E27FC236}">
                <a16:creationId xmlns:a16="http://schemas.microsoft.com/office/drawing/2014/main" id="{4F737480-6DFF-D374-A753-A3B0DD084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275" y="4544520"/>
            <a:ext cx="228234" cy="2282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Cycle de vie d'un lignage</a:t>
            </a:r>
            <a:endParaRPr lang="en-US" sz="2600" dirty="0"/>
          </a:p>
        </p:txBody>
      </p:sp>
      <p:sp>
        <p:nvSpPr>
          <p:cNvPr id="3" name="create pill"/>
          <p:cNvSpPr/>
          <p:nvPr/>
        </p:nvSpPr>
        <p:spPr>
          <a:xfrm>
            <a:off x="685800" y="1005840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Créer</a:t>
            </a:r>
            <a:endParaRPr lang="en-US" sz="1300" dirty="0"/>
          </a:p>
        </p:txBody>
      </p:sp>
      <p:sp>
        <p:nvSpPr>
          <p:cNvPr id="5" name="create arrow"/>
          <p:cNvSpPr/>
          <p:nvPr/>
        </p:nvSpPr>
        <p:spPr>
          <a:xfrm>
            <a:off x="1188720" y="1371600"/>
            <a:ext cx="0" cy="393192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e Brouillon"/>
          <p:cNvSpPr/>
          <p:nvPr/>
        </p:nvSpPr>
        <p:spPr>
          <a:xfrm>
            <a:off x="457200" y="17830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Brouillon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Exporté (à confirmer)</a:t>
            </a:r>
            <a:endParaRPr lang="en-US" sz="1200" dirty="0"/>
          </a:p>
        </p:txBody>
      </p:sp>
      <p:sp>
        <p:nvSpPr>
          <p:cNvPr id="9" name="state En cours"/>
          <p:cNvSpPr/>
          <p:nvPr/>
        </p:nvSpPr>
        <p:spPr>
          <a:xfrm>
            <a:off x="2651760" y="17830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5176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En cours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Exporté (à confirmer)</a:t>
            </a:r>
            <a:endParaRPr lang="en-US" sz="1200" dirty="0"/>
          </a:p>
        </p:txBody>
      </p:sp>
      <p:sp>
        <p:nvSpPr>
          <p:cNvPr id="12" name="state Terminé"/>
          <p:cNvSpPr/>
          <p:nvPr/>
        </p:nvSpPr>
        <p:spPr>
          <a:xfrm>
            <a:off x="4846320" y="17830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Terminé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Exporté chaque soir</a:t>
            </a:r>
            <a:endParaRPr lang="en-US" sz="1200" dirty="0"/>
          </a:p>
        </p:txBody>
      </p:sp>
      <p:sp>
        <p:nvSpPr>
          <p:cNvPr id="15" name="state Archivé"/>
          <p:cNvSpPr/>
          <p:nvPr/>
        </p:nvSpPr>
        <p:spPr>
          <a:xfrm>
            <a:off x="7040880" y="17830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408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Archivé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Exclu de l'export</a:t>
            </a:r>
            <a:endParaRPr lang="en-US" sz="1200" dirty="0"/>
          </a:p>
        </p:txBody>
      </p:sp>
      <p:sp>
        <p:nvSpPr>
          <p:cNvPr id="18" name="transition Compléter"/>
          <p:cNvSpPr/>
          <p:nvPr/>
        </p:nvSpPr>
        <p:spPr>
          <a:xfrm>
            <a:off x="1965960" y="2171700"/>
            <a:ext cx="640080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828800" y="1801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Compléter</a:t>
            </a:r>
            <a:endParaRPr lang="en-US" sz="1100" dirty="0"/>
          </a:p>
        </p:txBody>
      </p:sp>
      <p:sp>
        <p:nvSpPr>
          <p:cNvPr id="20" name="transition Terminer"/>
          <p:cNvSpPr/>
          <p:nvPr/>
        </p:nvSpPr>
        <p:spPr>
          <a:xfrm>
            <a:off x="4160520" y="2171700"/>
            <a:ext cx="640080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023360" y="1801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Terminer</a:t>
            </a:r>
            <a:endParaRPr lang="en-US" sz="1100" dirty="0"/>
          </a:p>
        </p:txBody>
      </p:sp>
      <p:sp>
        <p:nvSpPr>
          <p:cNvPr id="22" name="transition Archiver"/>
          <p:cNvSpPr/>
          <p:nvPr/>
        </p:nvSpPr>
        <p:spPr>
          <a:xfrm>
            <a:off x="6355080" y="2171700"/>
            <a:ext cx="640080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17920" y="1801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Archiver</a:t>
            </a:r>
            <a:endParaRPr lang="en-US" sz="1100" dirty="0"/>
          </a:p>
        </p:txBody>
      </p:sp>
      <p:sp>
        <p:nvSpPr>
          <p:cNvPr id="24" name="reopen down"/>
          <p:cNvSpPr/>
          <p:nvPr/>
        </p:nvSpPr>
        <p:spPr>
          <a:xfrm>
            <a:off x="5577840" y="2606040"/>
            <a:ext cx="0" cy="457200"/>
          </a:xfrm>
          <a:prstGeom prst="line">
            <a:avLst/>
          </a:prstGeom>
          <a:noFill/>
          <a:ln w="22225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open across"/>
          <p:cNvSpPr/>
          <p:nvPr/>
        </p:nvSpPr>
        <p:spPr>
          <a:xfrm>
            <a:off x="3383280" y="3063240"/>
            <a:ext cx="2194560" cy="0"/>
          </a:xfrm>
          <a:prstGeom prst="line">
            <a:avLst/>
          </a:prstGeom>
          <a:noFill/>
          <a:ln w="22225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open up"/>
          <p:cNvSpPr/>
          <p:nvPr/>
        </p:nvSpPr>
        <p:spPr>
          <a:xfrm flipV="1">
            <a:off x="3383280" y="2606040"/>
            <a:ext cx="0" cy="457200"/>
          </a:xfrm>
          <a:prstGeom prst="line">
            <a:avLst/>
          </a:prstGeom>
          <a:noFill/>
          <a:ln w="22225">
            <a:solidFill>
              <a:srgbClr val="5B3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52044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</a:rPr>
              <a:t>Modifier = réouverture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 lignage archivé est conservé et reste consultable en lecture seule.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Statuts et règles de gestion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Signification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Actions possibles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Export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A21B"/>
                          </a:solidFill>
                        </a:rPr>
                        <a:t>Brouillon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Lignage créé, saisie incomplète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Compléter, modifier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Oui *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B8C"/>
                          </a:solidFill>
                        </a:rPr>
                        <a:t>En cours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Saisie complète, en ajustement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Modifier, terminer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Oui *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F8F72"/>
                          </a:solidFill>
                        </a:rPr>
                        <a:t>Terminé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Validé par le contributeur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Modifier (réouverture), archiver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Oui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8494"/>
                          </a:solidFill>
                        </a:rPr>
                        <a:t>Archivé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Retiré du référentiel actif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Consulter (lecture seule)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530"/>
                          </a:solidFill>
                        </a:rPr>
                        <a:t>Non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542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* Export du stock complet hors archivés, à confirmer.</a:t>
            </a:r>
            <a:endParaRPr lang="en-US" sz="1000" dirty="0"/>
          </a:p>
        </p:txBody>
      </p:sp>
      <p:sp>
        <p:nvSpPr>
          <p:cNvPr id="5" name="RG-01 card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59436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RG-01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 lignage ne peut être terminé que si tous ses champs obligatoires sont renseignés.</a:t>
            </a:r>
            <a:endParaRPr lang="en-US" sz="1300" dirty="0"/>
          </a:p>
        </p:txBody>
      </p:sp>
      <p:sp>
        <p:nvSpPr>
          <p:cNvPr id="8" name="RG-02 card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8006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RG-02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Toute modification d'un lignage terminé le repasse au statut En cours.</a:t>
            </a:r>
            <a:endParaRPr lang="en-US" sz="1300" dirty="0"/>
          </a:p>
        </p:txBody>
      </p:sp>
      <p:sp>
        <p:nvSpPr>
          <p:cNvPr id="11" name="RG-03 card"/>
          <p:cNvSpPr/>
          <p:nvPr/>
        </p:nvSpPr>
        <p:spPr>
          <a:xfrm>
            <a:off x="457200" y="367588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3675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RG-03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6758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Chaque changement de statut est historisé : qui, quoi, quand.</a:t>
            </a:r>
            <a:endParaRPr lang="en-US" sz="1300" dirty="0"/>
          </a:p>
        </p:txBody>
      </p:sp>
      <p:sp>
        <p:nvSpPr>
          <p:cNvPr id="14" name="RG-04 card"/>
          <p:cNvSpPr/>
          <p:nvPr/>
        </p:nvSpPr>
        <p:spPr>
          <a:xfrm>
            <a:off x="4663440" y="367588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00600" y="3675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RG-04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36758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L'archivage est un retrait logique : aucune donnée n'est supprimée.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Alimentation des données de saisie</a:t>
            </a:r>
            <a:endParaRPr lang="en-US" sz="2600" dirty="0"/>
          </a:p>
        </p:txBody>
      </p:sp>
      <p:sp>
        <p:nvSpPr>
          <p:cNvPr id="3" name="Saisie manuelle card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aisie manuelle circle"/>
          <p:cNvSpPr/>
          <p:nvPr/>
        </p:nvSpPr>
        <p:spPr>
          <a:xfrm>
            <a:off x="731520" y="1188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Saisie manuell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13432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170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Saisie manuelle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517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Mode nominal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Formulaire header, puis ajout des lignes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Listes de valeurs pour limiter les erreurs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Contrôles immédiats des champs obligatoires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Duplication d'un lignage existant</a:t>
            </a:r>
            <a:endParaRPr lang="en-US" sz="1400" dirty="0"/>
          </a:p>
        </p:txBody>
      </p:sp>
      <p:sp>
        <p:nvSpPr>
          <p:cNvPr id="9" name="Import de fichier card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Import de fichier circle"/>
          <p:cNvSpPr/>
          <p:nvPr/>
        </p:nvSpPr>
        <p:spPr>
          <a:xfrm>
            <a:off x="4937760" y="11887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port de fichie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294" y="13432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170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de fichier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517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Proposition à valider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Reprise de l'existant et saisie en masse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Même gabarit que l'export : header + lignage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 d'import : lignes acceptées / rejetées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Lignages importés créés en Brouillon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Les deux modes appliquent les mêmes règles de contrôle et alimentent le même référentiel.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582AF943-01BA-F72B-B09B-5BBDEB253CA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Modèle de données : entête et éléments</a:t>
            </a:r>
            <a:endParaRPr lang="en-US" sz="26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A01EA16-ADAF-71AD-160F-9A55EC0344E8}"/>
              </a:ext>
            </a:extLst>
          </p:cNvPr>
          <p:cNvSpPr txBox="1"/>
          <p:nvPr/>
        </p:nvSpPr>
        <p:spPr>
          <a:xfrm>
            <a:off x="45720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Entête : identification des lignages</a:t>
            </a:r>
            <a:endParaRPr lang="en-US" sz="1400" dirty="0"/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07FF16FE-1A82-E0B2-5DF9-52C790071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970003"/>
              </p:ext>
            </p:extLst>
          </p:nvPr>
        </p:nvGraphicFramePr>
        <p:xfrm>
          <a:off x="457200" y="1280160"/>
          <a:ext cx="4023360" cy="26883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Pos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Obl.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Donnée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Clé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A21B"/>
                          </a:solidFill>
                        </a:rPr>
                        <a:t>Identifiant du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Technique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Application (code ROBIN)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Fonctionnelle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Paquet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Fonctionnelle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Exécutable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Fonctionnelle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Version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Fonctionnelle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Environnement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Fonctionnelle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Timestamp de version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Timestamp de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Techno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Version de l'outil de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Indice de confiance (/100)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4" name="Text 2">
            <a:extLst>
              <a:ext uri="{FF2B5EF4-FFF2-40B4-BE49-F238E27FC236}">
                <a16:creationId xmlns:a16="http://schemas.microsoft.com/office/drawing/2014/main" id="{54B143A4-38D1-3781-6DFD-76770B66854A}"/>
              </a:ext>
            </a:extLst>
          </p:cNvPr>
          <p:cNvSpPr txBox="1"/>
          <p:nvPr/>
        </p:nvSpPr>
        <p:spPr>
          <a:xfrm>
            <a:off x="466344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Éléments du lineage</a:t>
            </a:r>
            <a:endParaRPr lang="en-US" sz="1400" dirty="0"/>
          </a:p>
        </p:txBody>
      </p:sp>
      <p:graphicFrame>
        <p:nvGraphicFramePr>
          <p:cNvPr id="26" name="Table 1">
            <a:extLst>
              <a:ext uri="{FF2B5EF4-FFF2-40B4-BE49-F238E27FC236}">
                <a16:creationId xmlns:a16="http://schemas.microsoft.com/office/drawing/2014/main" id="{5D803CFC-19C1-73CF-C04B-EDC0A63E6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84829"/>
              </p:ext>
            </p:extLst>
          </p:nvPr>
        </p:nvGraphicFramePr>
        <p:xfrm>
          <a:off x="4663440" y="1280160"/>
          <a:ext cx="4023360" cy="201625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Pos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Obl.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Donnée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A21B"/>
                          </a:solidFill>
                        </a:rPr>
                        <a:t>Identifiant du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Lien vers l'entête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Identifiant de ligne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Clé de la ligne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Identifiant ligne parent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Arborescence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Type de ligne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Nœud ou Feuille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5-8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Input Data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Donnée source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Transformation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Traitement appliqué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Propriété de transformation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Liens vers la source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11-14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Output Data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Donnée alimentée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link card">
            <a:extLst>
              <a:ext uri="{FF2B5EF4-FFF2-40B4-BE49-F238E27FC236}">
                <a16:creationId xmlns:a16="http://schemas.microsoft.com/office/drawing/2014/main" id="{C745F69C-814D-35D2-461D-0E10045739DF}"/>
              </a:ext>
            </a:extLst>
          </p:cNvPr>
          <p:cNvSpPr/>
          <p:nvPr/>
        </p:nvSpPr>
        <p:spPr>
          <a:xfrm>
            <a:off x="4663440" y="342900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2DAD382-07DE-1730-BB16-247A84A2CFAA}"/>
              </a:ext>
            </a:extLst>
          </p:cNvPr>
          <p:cNvSpPr txBox="1"/>
          <p:nvPr/>
        </p:nvSpPr>
        <p:spPr>
          <a:xfrm>
            <a:off x="4800600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21B"/>
                </a:solidFill>
              </a:rPr>
              <a:t>Lien 1 → n : </a:t>
            </a:r>
            <a:r>
              <a:rPr lang="en-US" sz="1100" dirty="0">
                <a:solidFill>
                  <a:schemeClr val="tx1"/>
                </a:solidFill>
              </a:rPr>
              <a:t>l'Identifiant du lignage de chaque élément correspond à celui de l'entête.</a:t>
            </a:r>
            <a:endParaRPr lang="en-US" sz="11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39BFAD3-92F1-B441-96DF-A52C2A6E5F45}"/>
              </a:ext>
            </a:extLst>
          </p:cNvPr>
          <p:cNvSpPr txBox="1"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accent4"/>
                </a:solidFill>
              </a:rPr>
              <a:t>Identifiant : MERLIN</a:t>
            </a:r>
            <a:r>
              <a:rPr lang="en-US" sz="1050" i="1" dirty="0">
                <a:solidFill>
                  <a:schemeClr val="accent4"/>
                </a:solidFill>
              </a:rPr>
              <a:t>_&lt;Identifiant unique&gt;, 200 caractères max. Un nouveau lignage pour le même programme (application, paquet, exécutable, environnement) annule le précédent.   O = obligatoire, N = facultatif.</a:t>
            </a:r>
            <a:endParaRPr lang="en-US" sz="1050" dirty="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3B50ECA7-B7CA-457D-9EE8-BB032DE25B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7E30332A-5832-FCE2-AD11-2D0F3FD39E3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Format des </a:t>
            </a:r>
            <a:r>
              <a:rPr lang="en-US" sz="2600" b="1" dirty="0" err="1">
                <a:solidFill>
                  <a:schemeClr val="tx2"/>
                </a:solidFill>
              </a:rPr>
              <a:t>fichiers</a:t>
            </a:r>
            <a:r>
              <a:rPr lang="en-US" sz="2600" b="1" dirty="0">
                <a:solidFill>
                  <a:schemeClr val="tx2"/>
                </a:solidFill>
              </a:rPr>
              <a:t> Excel</a:t>
            </a:r>
            <a:endParaRPr lang="en-US" sz="2600" dirty="0"/>
          </a:p>
        </p:txBody>
      </p:sp>
      <p:sp>
        <p:nvSpPr>
          <p:cNvPr id="14" name="header file circle">
            <a:extLst>
              <a:ext uri="{FF2B5EF4-FFF2-40B4-BE49-F238E27FC236}">
                <a16:creationId xmlns:a16="http://schemas.microsoft.com/office/drawing/2014/main" id="{0F977038-F5A2-A6F8-ECB5-3079C1C77F38}"/>
              </a:ext>
            </a:extLst>
          </p:cNvPr>
          <p:cNvSpPr/>
          <p:nvPr/>
        </p:nvSpPr>
        <p:spPr>
          <a:xfrm>
            <a:off x="457200" y="9144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header file icon" descr="preencoded.png">
            <a:extLst>
              <a:ext uri="{FF2B5EF4-FFF2-40B4-BE49-F238E27FC236}">
                <a16:creationId xmlns:a16="http://schemas.microsoft.com/office/drawing/2014/main" id="{3D7EB972-ED4E-EBC9-7B2D-09AEABEE7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1021385"/>
            <a:ext cx="197510" cy="19751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A56C6D27-1C2A-04BF-D66F-C6FD202EC654}"/>
              </a:ext>
            </a:extLst>
          </p:cNvPr>
          <p:cNvSpPr txBox="1"/>
          <p:nvPr/>
        </p:nvSpPr>
        <p:spPr>
          <a:xfrm>
            <a:off x="1005840" y="914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tx2"/>
                </a:solidFill>
              </a:rPr>
              <a:t>Fichier</a:t>
            </a:r>
            <a:r>
              <a:rPr lang="en-US" sz="1300" b="1" dirty="0">
                <a:solidFill>
                  <a:schemeClr val="tx2"/>
                </a:solidFill>
              </a:rPr>
              <a:t> HEADER</a:t>
            </a:r>
            <a:r>
              <a:rPr lang="en-US" sz="1300" dirty="0">
                <a:solidFill>
                  <a:schemeClr val="tx2"/>
                </a:solidFill>
              </a:rPr>
              <a:t>   11 colonnes, une ligne par lignage (extrait)</a:t>
            </a:r>
            <a:endParaRPr lang="en-US" sz="130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14E3EDAA-AEE8-8865-C306-AED8A453A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102573"/>
              </p:ext>
            </p:extLst>
          </p:nvPr>
        </p:nvGraphicFramePr>
        <p:xfrm>
          <a:off x="457200" y="1371600"/>
          <a:ext cx="8229600" cy="548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Identifiant du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Paquet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Exécutable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Environ.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Techno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Confiance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3B8C"/>
                          </a:solidFill>
                        </a:rPr>
                        <a:t>MERLIN_CPT0001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rgbClr val="1F1530"/>
                          </a:solidFill>
                        </a:rPr>
                        <a:t>MERLIN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PKG_CPT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CPTENC01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2.3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rgbClr val="1F1530"/>
                          </a:solidFill>
                        </a:rPr>
                        <a:t>ZJ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TEC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85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lineage file circle">
            <a:extLst>
              <a:ext uri="{FF2B5EF4-FFF2-40B4-BE49-F238E27FC236}">
                <a16:creationId xmlns:a16="http://schemas.microsoft.com/office/drawing/2014/main" id="{EAF0D855-CE7C-AB23-36BA-AB4DCF808C30}"/>
              </a:ext>
            </a:extLst>
          </p:cNvPr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lineage file icon" descr="preencoded.png">
            <a:extLst>
              <a:ext uri="{FF2B5EF4-FFF2-40B4-BE49-F238E27FC236}">
                <a16:creationId xmlns:a16="http://schemas.microsoft.com/office/drawing/2014/main" id="{1E9AD164-6169-F4DD-5CC3-031466B5F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2210105"/>
            <a:ext cx="197510" cy="197510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FCADE106-B486-FAF1-952C-369E4E9DAB9E}"/>
              </a:ext>
            </a:extLst>
          </p:cNvPr>
          <p:cNvSpPr txBox="1"/>
          <p:nvPr/>
        </p:nvSpPr>
        <p:spPr>
          <a:xfrm>
            <a:off x="1005840" y="2103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tx2"/>
                </a:solidFill>
              </a:rPr>
              <a:t>Fichier</a:t>
            </a:r>
            <a:r>
              <a:rPr lang="en-US" sz="1300" b="1" dirty="0">
                <a:solidFill>
                  <a:schemeClr val="tx2"/>
                </a:solidFill>
              </a:rPr>
              <a:t> LINEAGE</a:t>
            </a:r>
            <a:r>
              <a:rPr lang="en-US" sz="1300" dirty="0">
                <a:solidFill>
                  <a:schemeClr val="tx2"/>
                </a:solidFill>
              </a:rPr>
              <a:t>   14 colonnes, une ligne par nœud ou feuille (extrait)</a:t>
            </a:r>
            <a:endParaRPr lang="en-US" sz="1300" dirty="0"/>
          </a:p>
        </p:txBody>
      </p:sp>
      <p:graphicFrame>
        <p:nvGraphicFramePr>
          <p:cNvPr id="22" name="Table 1">
            <a:extLst>
              <a:ext uri="{FF2B5EF4-FFF2-40B4-BE49-F238E27FC236}">
                <a16:creationId xmlns:a16="http://schemas.microsoft.com/office/drawing/2014/main" id="{65A98E57-94EE-0840-BC64-1CFF2AC1F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690138"/>
              </p:ext>
            </p:extLst>
          </p:nvPr>
        </p:nvGraphicFramePr>
        <p:xfrm>
          <a:off x="457200" y="2560320"/>
          <a:ext cx="822960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Identifiant du lignage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Ligne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Parent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Input Data (5-8)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Transformation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Output Data (11-14)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3B8C"/>
                          </a:solidFill>
                        </a:rPr>
                        <a:t>MERLIN_CPT0001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3B8C"/>
                          </a:solidFill>
                        </a:rPr>
                        <a:t>MERLIN_CPT0001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rgbClr val="1F1530"/>
                          </a:solidFill>
                        </a:rPr>
                        <a:t>I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ZJ.FIC_CLIENT.MONTANT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Somme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ZJ.TAB_ENCOURS.TOTAL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3B8C"/>
                          </a:solidFill>
                        </a:rPr>
                        <a:t>MERLIN_CPT0001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rgbClr val="1F1530"/>
                          </a:solidFill>
                        </a:rPr>
                        <a:t>O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ZJ.FIC_CLIENT.DEVISE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Conversion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530"/>
                          </a:solidFill>
                        </a:rPr>
                        <a:t>ZJ.TAB_ENCOURS.MT_EUR</a:t>
                      </a:r>
                      <a:endParaRPr lang="en-US" sz="10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5">
            <a:extLst>
              <a:ext uri="{FF2B5EF4-FFF2-40B4-BE49-F238E27FC236}">
                <a16:creationId xmlns:a16="http://schemas.microsoft.com/office/drawing/2014/main" id="{1AAC2AEF-6029-79A8-E25A-78B369D70C57}"/>
              </a:ext>
            </a:extLst>
          </p:cNvPr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Exemple fictif. Les nœuds structurent l'arbre du programme, les Type portent les données lignées ; Input et Output Data occupent chacune 4 colonnes.</a:t>
            </a:r>
            <a:endParaRPr lang="en-US" sz="1100" dirty="0"/>
          </a:p>
        </p:txBody>
      </p:sp>
      <p:sp>
        <p:nvSpPr>
          <p:cNvPr id="24" name="Slide Number Placeholder 0">
            <a:extLst>
              <a:ext uri="{FF2B5EF4-FFF2-40B4-BE49-F238E27FC236}">
                <a16:creationId xmlns:a16="http://schemas.microsoft.com/office/drawing/2014/main" id="{6065C08A-D87E-EBE1-26CA-DE19BA9833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>
            <a:extLst>
              <a:ext uri="{FF2B5EF4-FFF2-40B4-BE49-F238E27FC236}">
                <a16:creationId xmlns:a16="http://schemas.microsoft.com/office/drawing/2014/main" id="{0D4DA5FE-F69E-4A3D-3059-21C17152310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Compléter les lignages existants</a:t>
            </a:r>
            <a:endParaRPr lang="en-US" sz="2600" dirty="0"/>
          </a:p>
        </p:txBody>
      </p:sp>
      <p:sp>
        <p:nvSpPr>
          <p:cNvPr id="28" name="data A">
            <a:extLst>
              <a:ext uri="{FF2B5EF4-FFF2-40B4-BE49-F238E27FC236}">
                <a16:creationId xmlns:a16="http://schemas.microsoft.com/office/drawing/2014/main" id="{8D8BEBEA-D603-1722-ACBE-7D8C443E0FF1}"/>
              </a:ext>
            </a:extLst>
          </p:cNvPr>
          <p:cNvSpPr/>
          <p:nvPr/>
        </p:nvSpPr>
        <p:spPr>
          <a:xfrm>
            <a:off x="457200" y="118872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87ADB5C-DDC8-EF94-B3B7-E71886A4A94B}"/>
              </a:ext>
            </a:extLst>
          </p:cNvPr>
          <p:cNvSpPr txBox="1"/>
          <p:nvPr/>
        </p:nvSpPr>
        <p:spPr>
          <a:xfrm>
            <a:off x="4572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</a:t>
            </a:r>
            <a:endParaRPr lang="en-US" sz="1100" dirty="0"/>
          </a:p>
        </p:txBody>
      </p:sp>
      <p:sp>
        <p:nvSpPr>
          <p:cNvPr id="30" name="c1">
            <a:extLst>
              <a:ext uri="{FF2B5EF4-FFF2-40B4-BE49-F238E27FC236}">
                <a16:creationId xmlns:a16="http://schemas.microsoft.com/office/drawing/2014/main" id="{6FD03A7F-D956-44F0-5A2D-E59E729EE033}"/>
              </a:ext>
            </a:extLst>
          </p:cNvPr>
          <p:cNvSpPr/>
          <p:nvPr/>
        </p:nvSpPr>
        <p:spPr>
          <a:xfrm>
            <a:off x="1399032" y="1417320"/>
            <a:ext cx="219456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og 1">
            <a:extLst>
              <a:ext uri="{FF2B5EF4-FFF2-40B4-BE49-F238E27FC236}">
                <a16:creationId xmlns:a16="http://schemas.microsoft.com/office/drawing/2014/main" id="{5B94F3E4-7401-E11B-17EF-98EE6A3EF74C}"/>
              </a:ext>
            </a:extLst>
          </p:cNvPr>
          <p:cNvSpPr/>
          <p:nvPr/>
        </p:nvSpPr>
        <p:spPr>
          <a:xfrm>
            <a:off x="1645920" y="105156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E7494206-5EE8-B221-A788-EA9EF960289F}"/>
              </a:ext>
            </a:extLst>
          </p:cNvPr>
          <p:cNvSpPr txBox="1"/>
          <p:nvPr/>
        </p:nvSpPr>
        <p:spPr>
          <a:xfrm>
            <a:off x="164592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Programme 1</a:t>
            </a:r>
            <a:endParaRPr lang="en-US" sz="13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D4300988-AAD6-5F8A-A24B-D4A0459A7556}"/>
              </a:ext>
            </a:extLst>
          </p:cNvPr>
          <p:cNvSpPr txBox="1"/>
          <p:nvPr/>
        </p:nvSpPr>
        <p:spPr>
          <a:xfrm>
            <a:off x="164592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lignage automatique</a:t>
            </a:r>
            <a:endParaRPr lang="en-US" sz="1000" dirty="0"/>
          </a:p>
        </p:txBody>
      </p:sp>
      <p:sp>
        <p:nvSpPr>
          <p:cNvPr id="34" name="c2">
            <a:extLst>
              <a:ext uri="{FF2B5EF4-FFF2-40B4-BE49-F238E27FC236}">
                <a16:creationId xmlns:a16="http://schemas.microsoft.com/office/drawing/2014/main" id="{41FC8286-F65D-A3B2-CA4D-0AF2B5EA194B}"/>
              </a:ext>
            </a:extLst>
          </p:cNvPr>
          <p:cNvSpPr/>
          <p:nvPr/>
        </p:nvSpPr>
        <p:spPr>
          <a:xfrm>
            <a:off x="2953512" y="1417320"/>
            <a:ext cx="219456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data B">
            <a:extLst>
              <a:ext uri="{FF2B5EF4-FFF2-40B4-BE49-F238E27FC236}">
                <a16:creationId xmlns:a16="http://schemas.microsoft.com/office/drawing/2014/main" id="{FEFC5CF1-3BDA-1929-81D4-D19F837A2E2A}"/>
              </a:ext>
            </a:extLst>
          </p:cNvPr>
          <p:cNvSpPr/>
          <p:nvPr/>
        </p:nvSpPr>
        <p:spPr>
          <a:xfrm>
            <a:off x="3200400" y="118872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B3C4D813-B1F4-8939-B230-2CC99F91EA17}"/>
              </a:ext>
            </a:extLst>
          </p:cNvPr>
          <p:cNvSpPr txBox="1"/>
          <p:nvPr/>
        </p:nvSpPr>
        <p:spPr>
          <a:xfrm>
            <a:off x="32004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</a:t>
            </a:r>
            <a:endParaRPr lang="en-US" sz="1100" dirty="0"/>
          </a:p>
        </p:txBody>
      </p:sp>
      <p:sp>
        <p:nvSpPr>
          <p:cNvPr id="37" name="c3">
            <a:extLst>
              <a:ext uri="{FF2B5EF4-FFF2-40B4-BE49-F238E27FC236}">
                <a16:creationId xmlns:a16="http://schemas.microsoft.com/office/drawing/2014/main" id="{28057F5C-714B-EC79-D399-E9E75157605E}"/>
              </a:ext>
            </a:extLst>
          </p:cNvPr>
          <p:cNvSpPr/>
          <p:nvPr/>
        </p:nvSpPr>
        <p:spPr>
          <a:xfrm>
            <a:off x="4142232" y="1417320"/>
            <a:ext cx="219456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g 2">
            <a:extLst>
              <a:ext uri="{FF2B5EF4-FFF2-40B4-BE49-F238E27FC236}">
                <a16:creationId xmlns:a16="http://schemas.microsoft.com/office/drawing/2014/main" id="{5F4C0CD9-4519-74C3-2F15-5EF22614B66D}"/>
              </a:ext>
            </a:extLst>
          </p:cNvPr>
          <p:cNvSpPr/>
          <p:nvPr/>
        </p:nvSpPr>
        <p:spPr>
          <a:xfrm>
            <a:off x="4389120" y="105156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9A6C8E8-DC28-B89F-A760-164649BDE5B3}"/>
              </a:ext>
            </a:extLst>
          </p:cNvPr>
          <p:cNvSpPr txBox="1"/>
          <p:nvPr/>
        </p:nvSpPr>
        <p:spPr>
          <a:xfrm>
            <a:off x="438912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dirty="0">
                <a:solidFill>
                  <a:schemeClr val="bg1"/>
                </a:solidFill>
              </a:rPr>
              <a:t>trou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F94960FF-F459-46E7-4662-9BBCFDADF88B}"/>
              </a:ext>
            </a:extLst>
          </p:cNvPr>
          <p:cNvSpPr txBox="1"/>
          <p:nvPr/>
        </p:nvSpPr>
        <p:spPr>
          <a:xfrm>
            <a:off x="438912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boîte noire : ?</a:t>
            </a:r>
            <a:endParaRPr lang="en-US" sz="1000" dirty="0"/>
          </a:p>
        </p:txBody>
      </p:sp>
      <p:sp>
        <p:nvSpPr>
          <p:cNvPr id="41" name="c4">
            <a:extLst>
              <a:ext uri="{FF2B5EF4-FFF2-40B4-BE49-F238E27FC236}">
                <a16:creationId xmlns:a16="http://schemas.microsoft.com/office/drawing/2014/main" id="{4F00369F-4570-839D-5F51-7F9A6297074E}"/>
              </a:ext>
            </a:extLst>
          </p:cNvPr>
          <p:cNvSpPr/>
          <p:nvPr/>
        </p:nvSpPr>
        <p:spPr>
          <a:xfrm>
            <a:off x="5696712" y="1417320"/>
            <a:ext cx="219456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data C">
            <a:extLst>
              <a:ext uri="{FF2B5EF4-FFF2-40B4-BE49-F238E27FC236}">
                <a16:creationId xmlns:a16="http://schemas.microsoft.com/office/drawing/2014/main" id="{7184CE75-2842-B053-7490-27A91FBD3FA2}"/>
              </a:ext>
            </a:extLst>
          </p:cNvPr>
          <p:cNvSpPr/>
          <p:nvPr/>
        </p:nvSpPr>
        <p:spPr>
          <a:xfrm>
            <a:off x="5943600" y="118872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266FD676-B3AB-2EB1-AF33-8EFC4CC56EA1}"/>
              </a:ext>
            </a:extLst>
          </p:cNvPr>
          <p:cNvSpPr txBox="1"/>
          <p:nvPr/>
        </p:nvSpPr>
        <p:spPr>
          <a:xfrm>
            <a:off x="59436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 C</a:t>
            </a:r>
            <a:endParaRPr lang="en-US" sz="1100" dirty="0"/>
          </a:p>
        </p:txBody>
      </p:sp>
      <p:sp>
        <p:nvSpPr>
          <p:cNvPr id="44" name="gap line">
            <a:extLst>
              <a:ext uri="{FF2B5EF4-FFF2-40B4-BE49-F238E27FC236}">
                <a16:creationId xmlns:a16="http://schemas.microsoft.com/office/drawing/2014/main" id="{790FBBA3-8E3F-EB4C-625B-2F012E239AA0}"/>
              </a:ext>
            </a:extLst>
          </p:cNvPr>
          <p:cNvSpPr/>
          <p:nvPr/>
        </p:nvSpPr>
        <p:spPr>
          <a:xfrm>
            <a:off x="6903720" y="1417320"/>
            <a:ext cx="822960" cy="0"/>
          </a:xfrm>
          <a:prstGeom prst="line">
            <a:avLst/>
          </a:prstGeom>
          <a:noFill/>
          <a:ln w="25400">
            <a:solidFill>
              <a:srgbClr val="B455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083803CB-B95C-2532-C693-368C8B3B52B3}"/>
              </a:ext>
            </a:extLst>
          </p:cNvPr>
          <p:cNvSpPr txBox="1"/>
          <p:nvPr/>
        </p:nvSpPr>
        <p:spPr>
          <a:xfrm>
            <a:off x="6858000" y="1069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dirty="0"/>
              <a:t>???</a:t>
            </a:r>
            <a:endParaRPr lang="en-US" sz="1100" dirty="0"/>
          </a:p>
        </p:txBody>
      </p:sp>
      <p:sp>
        <p:nvSpPr>
          <p:cNvPr id="46" name="data D">
            <a:extLst>
              <a:ext uri="{FF2B5EF4-FFF2-40B4-BE49-F238E27FC236}">
                <a16:creationId xmlns:a16="http://schemas.microsoft.com/office/drawing/2014/main" id="{3E9B82AD-08CE-4DBF-2442-524DAB558F2C}"/>
              </a:ext>
            </a:extLst>
          </p:cNvPr>
          <p:cNvSpPr/>
          <p:nvPr/>
        </p:nvSpPr>
        <p:spPr>
          <a:xfrm>
            <a:off x="7772400" y="118872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5B3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8CF7286E-DC55-5FA0-6870-3DA22805A09D}"/>
              </a:ext>
            </a:extLst>
          </p:cNvPr>
          <p:cNvSpPr txBox="1"/>
          <p:nvPr/>
        </p:nvSpPr>
        <p:spPr>
          <a:xfrm>
            <a:off x="77724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 D</a:t>
            </a:r>
            <a:endParaRPr lang="en-US" sz="1100" dirty="0"/>
          </a:p>
        </p:txBody>
      </p:sp>
      <p:sp>
        <p:nvSpPr>
          <p:cNvPr id="48" name="def Lignage existant">
            <a:extLst>
              <a:ext uri="{FF2B5EF4-FFF2-40B4-BE49-F238E27FC236}">
                <a16:creationId xmlns:a16="http://schemas.microsoft.com/office/drawing/2014/main" id="{18D0EDA2-0E81-EC60-5D1A-2BFF240A12A4}"/>
              </a:ext>
            </a:extLst>
          </p:cNvPr>
          <p:cNvSpPr/>
          <p:nvPr/>
        </p:nvSpPr>
        <p:spPr>
          <a:xfrm>
            <a:off x="457200" y="23317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def dot Lignage existant">
            <a:extLst>
              <a:ext uri="{FF2B5EF4-FFF2-40B4-BE49-F238E27FC236}">
                <a16:creationId xmlns:a16="http://schemas.microsoft.com/office/drawing/2014/main" id="{DC66ACAC-9B6C-1078-2C8E-4168D48ECE52}"/>
              </a:ext>
            </a:extLst>
          </p:cNvPr>
          <p:cNvSpPr/>
          <p:nvPr/>
        </p:nvSpPr>
        <p:spPr>
          <a:xfrm>
            <a:off x="685800" y="254203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F56BABE-C587-5A7F-67ED-F4A29CBF9C60}"/>
              </a:ext>
            </a:extLst>
          </p:cNvPr>
          <p:cNvSpPr txBox="1"/>
          <p:nvPr/>
        </p:nvSpPr>
        <p:spPr>
          <a:xfrm>
            <a:off x="1051560" y="2496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Lignage existant</a:t>
            </a:r>
            <a:endParaRPr lang="en-US" sz="16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C8C3BDD-161A-CF03-2DB4-F2C3FA89762A}"/>
              </a:ext>
            </a:extLst>
          </p:cNvPr>
          <p:cNvSpPr txBox="1"/>
          <p:nvPr/>
        </p:nvSpPr>
        <p:spPr>
          <a:xfrm>
            <a:off x="685800" y="2971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Lignage </a:t>
            </a:r>
            <a:r>
              <a:rPr lang="en-US" sz="1300" dirty="0" err="1">
                <a:solidFill>
                  <a:schemeClr val="tx1"/>
                </a:solidFill>
              </a:rPr>
              <a:t>produit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/>
              <a:t>Genvue</a:t>
            </a:r>
            <a:r>
              <a:rPr lang="en-US" sz="1300" dirty="0"/>
              <a:t>, Stade, Meta …</a:t>
            </a:r>
            <a:r>
              <a:rPr lang="en-US" sz="1300" dirty="0">
                <a:solidFill>
                  <a:schemeClr val="tx1"/>
                </a:solidFill>
              </a:rPr>
              <a:t> :, mais parfois incomplet.</a:t>
            </a:r>
            <a:endParaRPr lang="en-US" sz="1300" dirty="0"/>
          </a:p>
        </p:txBody>
      </p:sp>
      <p:sp>
        <p:nvSpPr>
          <p:cNvPr id="52" name="def Boîte noire">
            <a:extLst>
              <a:ext uri="{FF2B5EF4-FFF2-40B4-BE49-F238E27FC236}">
                <a16:creationId xmlns:a16="http://schemas.microsoft.com/office/drawing/2014/main" id="{AB944FFB-37F7-D225-AE8F-AB8ADAB3D322}"/>
              </a:ext>
            </a:extLst>
          </p:cNvPr>
          <p:cNvSpPr/>
          <p:nvPr/>
        </p:nvSpPr>
        <p:spPr>
          <a:xfrm>
            <a:off x="3291840" y="23317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def dot Boîte noire">
            <a:extLst>
              <a:ext uri="{FF2B5EF4-FFF2-40B4-BE49-F238E27FC236}">
                <a16:creationId xmlns:a16="http://schemas.microsoft.com/office/drawing/2014/main" id="{63E313FA-D917-F2B8-7954-50DB4662B92F}"/>
              </a:ext>
            </a:extLst>
          </p:cNvPr>
          <p:cNvSpPr/>
          <p:nvPr/>
        </p:nvSpPr>
        <p:spPr>
          <a:xfrm>
            <a:off x="3520440" y="2542032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DABAA4AE-7C6B-C22A-6DCA-988A6F21364A}"/>
              </a:ext>
            </a:extLst>
          </p:cNvPr>
          <p:cNvSpPr txBox="1"/>
          <p:nvPr/>
        </p:nvSpPr>
        <p:spPr>
          <a:xfrm>
            <a:off x="3886200" y="2496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Boîte noire</a:t>
            </a:r>
            <a:endParaRPr lang="en-US" sz="1600" dirty="0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B4B1D435-53C7-1854-BFBC-488D639D9DB9}"/>
              </a:ext>
            </a:extLst>
          </p:cNvPr>
          <p:cNvSpPr txBox="1"/>
          <p:nvPr/>
        </p:nvSpPr>
        <p:spPr>
          <a:xfrm>
            <a:off x="3520440" y="2971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 connaît les entrées et les sorties d'un programme, mais pas la transformation appliquée.</a:t>
            </a:r>
            <a:endParaRPr lang="en-US" sz="1300" dirty="0"/>
          </a:p>
        </p:txBody>
      </p:sp>
      <p:sp>
        <p:nvSpPr>
          <p:cNvPr id="56" name="def Trou">
            <a:extLst>
              <a:ext uri="{FF2B5EF4-FFF2-40B4-BE49-F238E27FC236}">
                <a16:creationId xmlns:a16="http://schemas.microsoft.com/office/drawing/2014/main" id="{1A7FA629-CB41-27B5-7D5A-6612E6DC3F71}"/>
              </a:ext>
            </a:extLst>
          </p:cNvPr>
          <p:cNvSpPr/>
          <p:nvPr/>
        </p:nvSpPr>
        <p:spPr>
          <a:xfrm>
            <a:off x="6126480" y="23317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def dot Trou">
            <a:extLst>
              <a:ext uri="{FF2B5EF4-FFF2-40B4-BE49-F238E27FC236}">
                <a16:creationId xmlns:a16="http://schemas.microsoft.com/office/drawing/2014/main" id="{FB7A0F4A-6C22-68A7-82C2-33B2D56D24E1}"/>
              </a:ext>
            </a:extLst>
          </p:cNvPr>
          <p:cNvSpPr/>
          <p:nvPr/>
        </p:nvSpPr>
        <p:spPr>
          <a:xfrm>
            <a:off x="6355080" y="2542032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7C691206-C1E9-FCA3-F04E-324E6B591D2A}"/>
              </a:ext>
            </a:extLst>
          </p:cNvPr>
          <p:cNvSpPr txBox="1"/>
          <p:nvPr/>
        </p:nvSpPr>
        <p:spPr>
          <a:xfrm>
            <a:off x="6720840" y="2496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</a:t>
            </a:r>
            <a:endParaRPr lang="en-US" sz="160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A4D86044-5D00-77B2-8E10-01F895FECE20}"/>
              </a:ext>
            </a:extLst>
          </p:cNvPr>
          <p:cNvSpPr txBox="1"/>
          <p:nvPr/>
        </p:nvSpPr>
        <p:spPr>
          <a:xfrm>
            <a:off x="6355080" y="2971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 lien manque : une donnée produite n'est rattachée à aucune suite, la chaîne est rompue.</a:t>
            </a:r>
            <a:endParaRPr lang="en-US" sz="1300" dirty="0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02C6D85A-4D47-2EF5-41E7-DA6E6834B525}"/>
              </a:ext>
            </a:extLst>
          </p:cNvPr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Objectif : utiliser Merlin pour combler ces manques à la main. Définitions proposées, à valider.</a:t>
            </a:r>
            <a:endParaRPr lang="en-US" sz="1200" dirty="0"/>
          </a:p>
        </p:txBody>
      </p:sp>
      <p:sp>
        <p:nvSpPr>
          <p:cNvPr id="61" name="Slide Number Placeholder 0">
            <a:extLst>
              <a:ext uri="{FF2B5EF4-FFF2-40B4-BE49-F238E27FC236}">
                <a16:creationId xmlns:a16="http://schemas.microsoft.com/office/drawing/2014/main" id="{C425B878-4B24-9176-11F6-A852EB3543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Schéma de flux fonctionnel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ACTEUR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856232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ALIMENTATION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300984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45736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STOCKAGE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190488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TRAITEMENT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960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DIFFUSION</a:t>
            </a:r>
            <a:endParaRPr lang="en-US" sz="1000" dirty="0"/>
          </a:p>
        </p:txBody>
      </p:sp>
      <p:sp>
        <p:nvSpPr>
          <p:cNvPr id="9" name="flow actor"/>
          <p:cNvSpPr/>
          <p:nvPr/>
        </p:nvSpPr>
        <p:spPr>
          <a:xfrm>
            <a:off x="411480" y="201168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flow acto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1488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5603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Contributeur</a:t>
            </a:r>
            <a:endParaRPr lang="en-US" sz="1200" dirty="0"/>
          </a:p>
        </p:txBody>
      </p:sp>
      <p:sp>
        <p:nvSpPr>
          <p:cNvPr id="12" name="flow manual"/>
          <p:cNvSpPr/>
          <p:nvPr/>
        </p:nvSpPr>
        <p:spPr>
          <a:xfrm>
            <a:off x="1856232" y="1371600"/>
            <a:ext cx="114300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flow manua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852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01952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Saisie manuelle</a:t>
            </a:r>
            <a:endParaRPr lang="en-US" sz="1200" dirty="0"/>
          </a:p>
        </p:txBody>
      </p:sp>
      <p:sp>
        <p:nvSpPr>
          <p:cNvPr id="15" name="flow import"/>
          <p:cNvSpPr/>
          <p:nvPr/>
        </p:nvSpPr>
        <p:spPr>
          <a:xfrm>
            <a:off x="1856232" y="2743200"/>
            <a:ext cx="114300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flow import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852" y="2880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01952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Import fichier (proposé)</a:t>
            </a:r>
            <a:endParaRPr lang="en-US" sz="1200" dirty="0"/>
          </a:p>
        </p:txBody>
      </p:sp>
      <p:sp>
        <p:nvSpPr>
          <p:cNvPr id="18" name="flow merlin"/>
          <p:cNvSpPr/>
          <p:nvPr/>
        </p:nvSpPr>
        <p:spPr>
          <a:xfrm>
            <a:off x="3300984" y="1737360"/>
            <a:ext cx="1143000" cy="173736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3346704" y="1737360"/>
            <a:ext cx="1051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Merlin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saisie, contrôles, statuts</a:t>
            </a:r>
            <a:endParaRPr lang="en-US" sz="1200" dirty="0"/>
          </a:p>
        </p:txBody>
      </p:sp>
      <p:sp>
        <p:nvSpPr>
          <p:cNvPr id="20" name="flow db"/>
          <p:cNvSpPr/>
          <p:nvPr/>
        </p:nvSpPr>
        <p:spPr>
          <a:xfrm>
            <a:off x="4745736" y="201168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flow db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435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91456" y="25603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chemeClr val="bg1"/>
                </a:solidFill>
              </a:rPr>
              <a:t>S</a:t>
            </a:r>
            <a:r>
              <a:rPr lang="en-US" sz="1200" b="1" dirty="0" err="1">
                <a:solidFill>
                  <a:schemeClr val="bg1"/>
                </a:solidFill>
              </a:rPr>
              <a:t>tockage</a:t>
            </a:r>
            <a:r>
              <a:rPr lang="en-US" sz="1200" b="1" dirty="0">
                <a:solidFill>
                  <a:schemeClr val="bg1"/>
                </a:solidFill>
              </a:rPr>
              <a:t> lineage</a:t>
            </a:r>
            <a:endParaRPr lang="en-US" sz="1200" dirty="0"/>
          </a:p>
        </p:txBody>
      </p:sp>
      <p:sp>
        <p:nvSpPr>
          <p:cNvPr id="23" name="flow export"/>
          <p:cNvSpPr/>
          <p:nvPr/>
        </p:nvSpPr>
        <p:spPr>
          <a:xfrm>
            <a:off x="6190488" y="201168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6236208" y="22290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Export</a:t>
            </a:r>
            <a:endParaRPr lang="en-US" sz="1200" dirty="0"/>
          </a:p>
        </p:txBody>
      </p:sp>
      <p:sp>
        <p:nvSpPr>
          <p:cNvPr id="26" name="flow header"/>
          <p:cNvSpPr/>
          <p:nvPr/>
        </p:nvSpPr>
        <p:spPr>
          <a:xfrm>
            <a:off x="7635240" y="1371600"/>
            <a:ext cx="114300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flow header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860" y="150876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8096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Fichier Header</a:t>
            </a:r>
            <a:endParaRPr lang="en-US" sz="1200" dirty="0"/>
          </a:p>
        </p:txBody>
      </p:sp>
      <p:sp>
        <p:nvSpPr>
          <p:cNvPr id="29" name="flow lineage"/>
          <p:cNvSpPr/>
          <p:nvPr/>
        </p:nvSpPr>
        <p:spPr>
          <a:xfrm>
            <a:off x="7635240" y="2743200"/>
            <a:ext cx="114300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flow lineage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860" y="288036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680960" y="3291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Fichier Lignage</a:t>
            </a:r>
            <a:endParaRPr lang="en-US" sz="1200" dirty="0"/>
          </a:p>
        </p:txBody>
      </p:sp>
      <p:sp>
        <p:nvSpPr>
          <p:cNvPr id="32" name="a1"/>
          <p:cNvSpPr/>
          <p:nvPr/>
        </p:nvSpPr>
        <p:spPr>
          <a:xfrm>
            <a:off x="1581912" y="2377440"/>
            <a:ext cx="246888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a2"/>
          <p:cNvSpPr/>
          <p:nvPr/>
        </p:nvSpPr>
        <p:spPr>
          <a:xfrm>
            <a:off x="1581912" y="2834640"/>
            <a:ext cx="246888" cy="45720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a3"/>
          <p:cNvSpPr/>
          <p:nvPr/>
        </p:nvSpPr>
        <p:spPr>
          <a:xfrm>
            <a:off x="3026664" y="1920240"/>
            <a:ext cx="246888" cy="45720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a4"/>
          <p:cNvSpPr/>
          <p:nvPr/>
        </p:nvSpPr>
        <p:spPr>
          <a:xfrm>
            <a:off x="3026664" y="3291840"/>
            <a:ext cx="246888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a5"/>
          <p:cNvSpPr/>
          <p:nvPr/>
        </p:nvSpPr>
        <p:spPr>
          <a:xfrm>
            <a:off x="4471416" y="2606040"/>
            <a:ext cx="246888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a6"/>
          <p:cNvSpPr/>
          <p:nvPr/>
        </p:nvSpPr>
        <p:spPr>
          <a:xfrm>
            <a:off x="5916168" y="2606040"/>
            <a:ext cx="246888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a7"/>
          <p:cNvSpPr/>
          <p:nvPr/>
        </p:nvSpPr>
        <p:spPr>
          <a:xfrm>
            <a:off x="7360920" y="2377440"/>
            <a:ext cx="246888" cy="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a8"/>
          <p:cNvSpPr/>
          <p:nvPr/>
        </p:nvSpPr>
        <p:spPr>
          <a:xfrm>
            <a:off x="7360920" y="2834640"/>
            <a:ext cx="246888" cy="457200"/>
          </a:xfrm>
          <a:prstGeom prst="line">
            <a:avLst/>
          </a:prstGeom>
          <a:noFill/>
          <a:ln w="22225">
            <a:solidFill>
              <a:srgbClr val="2E1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Points ouverts et prochaines étapes</a:t>
            </a:r>
            <a:endParaRPr lang="en-US" sz="2600" dirty="0"/>
          </a:p>
        </p:txBody>
      </p:sp>
      <p:sp>
        <p:nvSpPr>
          <p:cNvPr id="3" name="open circle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ope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à arbitrer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659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Export des lignages Brouillon et En cours, ou Terminé seul 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Exclusion des lignages archivés de l'export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Heure de l'export et lieu de dépôt des fichiers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Import de fichier retenu pour la V1 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Désarchivage autorisé ?</a:t>
            </a:r>
            <a:endParaRPr lang="en-US" sz="1400" dirty="0"/>
          </a:p>
        </p:txBody>
      </p:sp>
      <p:sp>
        <p:nvSpPr>
          <p:cNvPr id="7" name="next circle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next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4904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19659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Valider le cycle de vie et les règles avec les utilisateurs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Figer la liste des champs et les gabarits Excel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Détailler les écrans de saisie et les messages de contrôle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Rédiger les scénarios de recette fonctionnelle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lin">
  <a:themeElements>
    <a:clrScheme name="Merlin">
      <a:dk1>
        <a:srgbClr val="1F1530"/>
      </a:dk1>
      <a:lt1>
        <a:srgbClr val="FFFFFF"/>
      </a:lt1>
      <a:dk2>
        <a:srgbClr val="2E1A47"/>
      </a:dk2>
      <a:lt2>
        <a:srgbClr val="F3EFF9"/>
      </a:lt2>
      <a:accent1>
        <a:srgbClr val="5B3B8C"/>
      </a:accent1>
      <a:accent2>
        <a:srgbClr val="D9A21B"/>
      </a:accent2>
      <a:accent3>
        <a:srgbClr val="2F8F72"/>
      </a:accent3>
      <a:accent4>
        <a:srgbClr val="8A8494"/>
      </a:accent4>
      <a:accent5>
        <a:srgbClr val="B4553A"/>
      </a:accent5>
      <a:accent6>
        <a:srgbClr val="7FA6D9"/>
      </a:accent6>
      <a:hlink>
        <a:srgbClr val="5B3B8C"/>
      </a:hlink>
      <a:folHlink>
        <a:srgbClr val="8A8494"/>
      </a:folHlink>
    </a:clrScheme>
    <a:fontScheme name="Merl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Affichage à l'écran (16:9)</PresentationFormat>
  <Paragraphs>278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Merlin</vt:lpstr>
      <vt:lpstr>Merlin</vt:lpstr>
      <vt:lpstr>Contexte et objectifs</vt:lpstr>
      <vt:lpstr>Le role du Contributeur = Producteur Merlin</vt:lpstr>
      <vt:lpstr>Cycle de vie d'un lignage</vt:lpstr>
      <vt:lpstr>Statuts et règles de gestion</vt:lpstr>
      <vt:lpstr>Alimentation des données de saisie</vt:lpstr>
      <vt:lpstr>Modèle de données : entête et éléments</vt:lpstr>
      <vt:lpstr>Format des fichiers Excel</vt:lpstr>
      <vt:lpstr>Compléter les lignages existants</vt:lpstr>
      <vt:lpstr>Schéma de flux fonctionnel</vt:lpstr>
      <vt:lpstr>Points ouverts et prochaines étapes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Merlin - Spécification fonctionnelle</dc:title>
  <dc:subject>PptxGenJS Presentation</dc:subject>
  <dc:creator>Abel</dc:creator>
  <cp:lastModifiedBy>Abel Rabetsimialona</cp:lastModifiedBy>
  <cp:revision>38</cp:revision>
  <dcterms:created xsi:type="dcterms:W3CDTF">2026-10-28T19:56:42Z</dcterms:created>
  <dcterms:modified xsi:type="dcterms:W3CDTF">2026-10-28T22:21:28Z</dcterms:modified>
</cp:coreProperties>
</file>